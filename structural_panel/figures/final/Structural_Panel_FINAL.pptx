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0240288" cy="20159663"/>
  <p:notesSz cx="20159663" cy="302402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A34A"/>
    <a:srgbClr val="E11D48"/>
    <a:srgbClr val="7C3AED"/>
    <a:srgbClr val="F97316"/>
    <a:srgbClr val="008C8C"/>
    <a:srgbClr val="2166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33" d="100"/>
          <a:sy n="33" d="100"/>
        </p:scale>
        <p:origin x="730" y="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8349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0000" y="19836000"/>
            <a:ext cx="15120000" cy="180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504000" y="504000"/>
            <a:ext cx="9504000" cy="9360000"/>
          </a:xfrm>
          <a:prstGeom prst="rect">
            <a:avLst/>
          </a:prstGeom>
          <a:solidFill>
            <a:srgbClr val="EDF5FF"/>
          </a:solidFill>
          <a:ln w="14605">
            <a:solidFill>
              <a:srgbClr val="2166F3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4" name="Shape 2"/>
          <p:cNvSpPr/>
          <p:nvPr/>
        </p:nvSpPr>
        <p:spPr>
          <a:xfrm>
            <a:off x="504000" y="504000"/>
            <a:ext cx="90000" cy="9360000"/>
          </a:xfrm>
          <a:prstGeom prst="rect">
            <a:avLst/>
          </a:prstGeom>
          <a:solidFill>
            <a:srgbClr val="2166F3"/>
          </a:solidFill>
          <a:ln w="12700">
            <a:solidFill>
              <a:srgbClr val="2166F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522000"/>
            <a:ext cx="738000" cy="511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16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98000" y="435392"/>
            <a:ext cx="5155200" cy="65413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linker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8000" y="952212"/>
            <a:ext cx="5648400" cy="56199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2800" b="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process-aligned linker contrast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833434" y="602856"/>
            <a:ext cx="1278000" cy="490909"/>
          </a:xfrm>
          <a:prstGeom prst="roundRect">
            <a:avLst>
              <a:gd name="adj" fmla="val 35278"/>
            </a:avLst>
          </a:prstGeom>
          <a:solidFill>
            <a:srgbClr val="FFFFFF">
              <a:alpha val="96000"/>
            </a:srgbClr>
          </a:solidFill>
          <a:ln w="11430">
            <a:solidFill>
              <a:srgbClr val="2166F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833434" y="613657"/>
            <a:ext cx="1278000" cy="450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16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pcu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185600" y="594000"/>
            <a:ext cx="2588400" cy="523754"/>
          </a:xfrm>
          <a:prstGeom prst="roundRect">
            <a:avLst>
              <a:gd name="adj" fmla="val 35278"/>
            </a:avLst>
          </a:prstGeom>
          <a:solidFill>
            <a:srgbClr val="FFFFFF">
              <a:alpha val="96000"/>
            </a:srgbClr>
          </a:solidFill>
          <a:ln w="11430">
            <a:solidFill>
              <a:srgbClr val="2166F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185600" y="604800"/>
            <a:ext cx="2588400" cy="4801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16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ALIGNED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11940" y="1599807"/>
            <a:ext cx="2124000" cy="853200"/>
          </a:xfrm>
          <a:prstGeom prst="rect">
            <a:avLst/>
          </a:prstGeom>
          <a:solidFill>
            <a:srgbClr val="FFFFFF"/>
          </a:solidFill>
          <a:ln w="11430">
            <a:solidFill>
              <a:srgbClr val="2166F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11940" y="1598067"/>
            <a:ext cx="2124000" cy="43419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MED. |</a:t>
            </a:r>
            <a:r>
              <a:rPr lang="el-GR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</a:t>
            </a:r>
            <a:r>
              <a:rPr lang="en-US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ads.|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89540" y="1910859"/>
            <a:ext cx="2257200" cy="52623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16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0.8119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026740" y="1599807"/>
            <a:ext cx="2124000" cy="853200"/>
          </a:xfrm>
          <a:prstGeom prst="rect">
            <a:avLst/>
          </a:prstGeom>
          <a:solidFill>
            <a:srgbClr val="FFFFFF"/>
          </a:solidFill>
          <a:ln w="11430">
            <a:solidFill>
              <a:srgbClr val="2166F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3026740" y="1598067"/>
            <a:ext cx="2124000" cy="4583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 CONCORD.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983540" y="1995556"/>
            <a:ext cx="2178000" cy="41688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16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341540" y="1599807"/>
            <a:ext cx="2124000" cy="853200"/>
          </a:xfrm>
          <a:prstGeom prst="rect">
            <a:avLst/>
          </a:prstGeom>
          <a:solidFill>
            <a:srgbClr val="FFFFFF"/>
          </a:solidFill>
          <a:ln w="11430">
            <a:solidFill>
              <a:srgbClr val="2166F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5341540" y="1608867"/>
            <a:ext cx="2206800" cy="42339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SEL. CONCORD.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47940" y="1962653"/>
            <a:ext cx="2271600" cy="46437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16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7656340" y="1599807"/>
            <a:ext cx="2124000" cy="853200"/>
          </a:xfrm>
          <a:prstGeom prst="rect">
            <a:avLst/>
          </a:prstGeom>
          <a:solidFill>
            <a:srgbClr val="FFFFFF"/>
          </a:solidFill>
          <a:ln w="11430">
            <a:solidFill>
              <a:srgbClr val="2166F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7656340" y="1588833"/>
            <a:ext cx="2145600" cy="45833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GEO./CAL.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665340" y="2008955"/>
            <a:ext cx="2106000" cy="37027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16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0.897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702000" y="2667600"/>
            <a:ext cx="4399200" cy="644040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13970">
            <a:solidFill>
              <a:srgbClr val="2166F3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27" name="Text 25"/>
          <p:cNvSpPr/>
          <p:nvPr/>
        </p:nvSpPr>
        <p:spPr>
          <a:xfrm>
            <a:off x="864000" y="3430800"/>
            <a:ext cx="4075200" cy="30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16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i</a:t>
            </a:r>
            <a:endParaRPr lang="en-US" sz="1900" dirty="0"/>
          </a:p>
        </p:txBody>
      </p:sp>
      <p:sp>
        <p:nvSpPr>
          <p:cNvPr id="28" name="Shape 26"/>
          <p:cNvSpPr/>
          <p:nvPr/>
        </p:nvSpPr>
        <p:spPr>
          <a:xfrm>
            <a:off x="1513624" y="3481200"/>
            <a:ext cx="2736000" cy="205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2166F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1533600" y="6585564"/>
            <a:ext cx="2736000" cy="259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16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INSET i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5410800" y="2667600"/>
            <a:ext cx="4399200" cy="644040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13970">
            <a:solidFill>
              <a:srgbClr val="2166F3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36" name="Text 34"/>
          <p:cNvSpPr/>
          <p:nvPr/>
        </p:nvSpPr>
        <p:spPr>
          <a:xfrm>
            <a:off x="5572800" y="3430800"/>
            <a:ext cx="4075200" cy="30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16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ii</a:t>
            </a:r>
            <a:endParaRPr lang="en-US" sz="1900" dirty="0"/>
          </a:p>
        </p:txBody>
      </p:sp>
      <p:sp>
        <p:nvSpPr>
          <p:cNvPr id="37" name="Shape 35"/>
          <p:cNvSpPr/>
          <p:nvPr/>
        </p:nvSpPr>
        <p:spPr>
          <a:xfrm>
            <a:off x="6260400" y="3288639"/>
            <a:ext cx="2736000" cy="205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2166F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6242400" y="6579205"/>
            <a:ext cx="2736000" cy="259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16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INSET ii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702000" y="9234000"/>
            <a:ext cx="9108000" cy="4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41"/>
          <p:cNvSpPr/>
          <p:nvPr/>
        </p:nvSpPr>
        <p:spPr>
          <a:xfrm>
            <a:off x="702000" y="9234000"/>
            <a:ext cx="50400" cy="450000"/>
          </a:xfrm>
          <a:prstGeom prst="rect">
            <a:avLst/>
          </a:prstGeom>
          <a:solidFill>
            <a:srgbClr val="2166F3"/>
          </a:solidFill>
          <a:ln w="12700">
            <a:solidFill>
              <a:srgbClr val="2166F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813600" y="9262800"/>
            <a:ext cx="8892000" cy="38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800" b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Matched pcu · local linker contrast only</a:t>
            </a:r>
            <a:endParaRPr lang="en-US" sz="2000" dirty="0"/>
          </a:p>
        </p:txBody>
      </p:sp>
      <p:sp>
        <p:nvSpPr>
          <p:cNvPr id="45" name="Shape 43"/>
          <p:cNvSpPr/>
          <p:nvPr/>
        </p:nvSpPr>
        <p:spPr>
          <a:xfrm>
            <a:off x="10368000" y="504000"/>
            <a:ext cx="9504000" cy="9360000"/>
          </a:xfrm>
          <a:prstGeom prst="rect">
            <a:avLst/>
          </a:prstGeom>
          <a:solidFill>
            <a:srgbClr val="EAFBFA"/>
          </a:solidFill>
          <a:ln w="14605">
            <a:solidFill>
              <a:srgbClr val="008C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Shape 44"/>
          <p:cNvSpPr/>
          <p:nvPr/>
        </p:nvSpPr>
        <p:spPr>
          <a:xfrm>
            <a:off x="10368000" y="504000"/>
            <a:ext cx="90000" cy="9360000"/>
          </a:xfrm>
          <a:prstGeom prst="rect">
            <a:avLst/>
          </a:prstGeom>
          <a:solidFill>
            <a:srgbClr val="008C8C"/>
          </a:solidFill>
          <a:ln w="12700">
            <a:solidFill>
              <a:srgbClr val="008C8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10306800" y="421822"/>
            <a:ext cx="792000" cy="65339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3200" dirty="0"/>
          </a:p>
        </p:txBody>
      </p:sp>
      <p:sp>
        <p:nvSpPr>
          <p:cNvPr id="48" name="Text 46"/>
          <p:cNvSpPr/>
          <p:nvPr/>
        </p:nvSpPr>
        <p:spPr>
          <a:xfrm>
            <a:off x="10940400" y="483882"/>
            <a:ext cx="4680000" cy="57641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metal-node</a:t>
            </a:r>
            <a:endParaRPr lang="en-US" sz="2400" dirty="0"/>
          </a:p>
        </p:txBody>
      </p:sp>
      <p:sp>
        <p:nvSpPr>
          <p:cNvPr id="49" name="Text 47"/>
          <p:cNvSpPr/>
          <p:nvPr/>
        </p:nvSpPr>
        <p:spPr>
          <a:xfrm>
            <a:off x="10934438" y="983634"/>
            <a:ext cx="5950800" cy="5383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2800" b="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process-aligned Zn/Cu node contrast</a:t>
            </a: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15738161" y="604800"/>
            <a:ext cx="1280160" cy="448056"/>
          </a:xfrm>
          <a:prstGeom prst="roundRect">
            <a:avLst>
              <a:gd name="adj" fmla="val 35278"/>
            </a:avLst>
          </a:prstGeom>
          <a:solidFill>
            <a:srgbClr val="FFFFFF">
              <a:alpha val="96000"/>
            </a:srgbClr>
          </a:solidFill>
          <a:ln w="11430">
            <a:solidFill>
              <a:srgbClr val="008C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9"/>
          <p:cNvSpPr/>
          <p:nvPr/>
        </p:nvSpPr>
        <p:spPr>
          <a:xfrm>
            <a:off x="15816976" y="583188"/>
            <a:ext cx="1146943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nbo</a:t>
            </a:r>
            <a:endParaRPr lang="en-US" sz="2400" dirty="0"/>
          </a:p>
        </p:txBody>
      </p:sp>
      <p:sp>
        <p:nvSpPr>
          <p:cNvPr id="52" name="Shape 50"/>
          <p:cNvSpPr/>
          <p:nvPr/>
        </p:nvSpPr>
        <p:spPr>
          <a:xfrm>
            <a:off x="17100000" y="594000"/>
            <a:ext cx="2587752" cy="484632"/>
          </a:xfrm>
          <a:prstGeom prst="roundRect">
            <a:avLst>
              <a:gd name="adj" fmla="val 35278"/>
            </a:avLst>
          </a:prstGeom>
          <a:solidFill>
            <a:srgbClr val="FFFFFF">
              <a:alpha val="96000"/>
            </a:srgbClr>
          </a:solidFill>
          <a:ln w="11430">
            <a:solidFill>
              <a:srgbClr val="008C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/>
          <p:nvPr/>
        </p:nvSpPr>
        <p:spPr>
          <a:xfrm>
            <a:off x="17100000" y="604800"/>
            <a:ext cx="2587752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ALIGNED</a:t>
            </a:r>
            <a:endParaRPr lang="en-US" sz="2000" dirty="0"/>
          </a:p>
        </p:txBody>
      </p:sp>
      <p:sp>
        <p:nvSpPr>
          <p:cNvPr id="54" name="Shape 52"/>
          <p:cNvSpPr/>
          <p:nvPr/>
        </p:nvSpPr>
        <p:spPr>
          <a:xfrm>
            <a:off x="10583780" y="1598362"/>
            <a:ext cx="2121408" cy="850392"/>
          </a:xfrm>
          <a:prstGeom prst="rect">
            <a:avLst/>
          </a:prstGeom>
          <a:solidFill>
            <a:srgbClr val="FFFFFF"/>
          </a:solidFill>
          <a:ln w="11430">
            <a:solidFill>
              <a:srgbClr val="008C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53"/>
          <p:cNvSpPr/>
          <p:nvPr/>
        </p:nvSpPr>
        <p:spPr>
          <a:xfrm>
            <a:off x="10529780" y="1672366"/>
            <a:ext cx="2214000" cy="313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MED. |</a:t>
            </a:r>
            <a:r>
              <a:rPr lang="el-GR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</a:t>
            </a:r>
            <a:r>
              <a:rPr lang="en-US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ads.|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10583780" y="2018742"/>
            <a:ext cx="2106000" cy="3886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0.3067</a:t>
            </a:r>
            <a:endParaRPr lang="en-US" sz="2000" dirty="0"/>
          </a:p>
        </p:txBody>
      </p:sp>
      <p:sp>
        <p:nvSpPr>
          <p:cNvPr id="57" name="Shape 55"/>
          <p:cNvSpPr/>
          <p:nvPr/>
        </p:nvSpPr>
        <p:spPr>
          <a:xfrm>
            <a:off x="12898580" y="1621076"/>
            <a:ext cx="2121408" cy="832104"/>
          </a:xfrm>
          <a:prstGeom prst="rect">
            <a:avLst/>
          </a:prstGeom>
          <a:solidFill>
            <a:srgbClr val="FFFFFF"/>
          </a:solidFill>
          <a:ln w="11430">
            <a:solidFill>
              <a:srgbClr val="008C8C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58" name="Text 56"/>
          <p:cNvSpPr/>
          <p:nvPr/>
        </p:nvSpPr>
        <p:spPr>
          <a:xfrm>
            <a:off x="12924809" y="1642547"/>
            <a:ext cx="2070000" cy="36445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 CONCORD.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12898580" y="2018742"/>
            <a:ext cx="2106000" cy="3886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2000" dirty="0"/>
          </a:p>
        </p:txBody>
      </p:sp>
      <p:sp>
        <p:nvSpPr>
          <p:cNvPr id="60" name="Shape 58"/>
          <p:cNvSpPr/>
          <p:nvPr/>
        </p:nvSpPr>
        <p:spPr>
          <a:xfrm>
            <a:off x="15213380" y="1602615"/>
            <a:ext cx="2121408" cy="850392"/>
          </a:xfrm>
          <a:prstGeom prst="rect">
            <a:avLst/>
          </a:prstGeom>
          <a:solidFill>
            <a:srgbClr val="FFFFFF"/>
          </a:solidFill>
          <a:ln w="11430">
            <a:solidFill>
              <a:srgbClr val="008C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ext 59"/>
          <p:cNvSpPr/>
          <p:nvPr/>
        </p:nvSpPr>
        <p:spPr>
          <a:xfrm>
            <a:off x="15213380" y="1636573"/>
            <a:ext cx="2106000" cy="40000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SEL. CONCORD.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15213380" y="2018742"/>
            <a:ext cx="2106000" cy="3886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2000" dirty="0"/>
          </a:p>
        </p:txBody>
      </p:sp>
      <p:sp>
        <p:nvSpPr>
          <p:cNvPr id="63" name="Shape 61"/>
          <p:cNvSpPr/>
          <p:nvPr/>
        </p:nvSpPr>
        <p:spPr>
          <a:xfrm>
            <a:off x="17528180" y="1594332"/>
            <a:ext cx="2121408" cy="850392"/>
          </a:xfrm>
          <a:prstGeom prst="rect">
            <a:avLst/>
          </a:prstGeom>
          <a:solidFill>
            <a:srgbClr val="FFFFFF"/>
          </a:solidFill>
          <a:ln w="11430">
            <a:solidFill>
              <a:srgbClr val="008C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Text 62"/>
          <p:cNvSpPr/>
          <p:nvPr/>
        </p:nvSpPr>
        <p:spPr>
          <a:xfrm>
            <a:off x="17528180" y="1647942"/>
            <a:ext cx="2106000" cy="3886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GEO./CAL.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17528180" y="2018742"/>
            <a:ext cx="2106000" cy="3886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0.666</a:t>
            </a:r>
            <a:endParaRPr lang="en-US" sz="2000" dirty="0"/>
          </a:p>
        </p:txBody>
      </p:sp>
      <p:sp>
        <p:nvSpPr>
          <p:cNvPr id="66" name="Shape 64"/>
          <p:cNvSpPr/>
          <p:nvPr/>
        </p:nvSpPr>
        <p:spPr>
          <a:xfrm>
            <a:off x="10566000" y="2667600"/>
            <a:ext cx="4399200" cy="644040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13970">
            <a:solidFill>
              <a:srgbClr val="008C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Text 67"/>
          <p:cNvSpPr/>
          <p:nvPr/>
        </p:nvSpPr>
        <p:spPr>
          <a:xfrm>
            <a:off x="10728000" y="3430800"/>
            <a:ext cx="4075200" cy="30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i</a:t>
            </a:r>
            <a:endParaRPr lang="en-US" sz="1900" dirty="0"/>
          </a:p>
        </p:txBody>
      </p:sp>
      <p:sp>
        <p:nvSpPr>
          <p:cNvPr id="70" name="Shape 68"/>
          <p:cNvSpPr/>
          <p:nvPr/>
        </p:nvSpPr>
        <p:spPr>
          <a:xfrm>
            <a:off x="11318400" y="3360600"/>
            <a:ext cx="2736000" cy="205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008C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" name="Text 69"/>
          <p:cNvSpPr/>
          <p:nvPr/>
        </p:nvSpPr>
        <p:spPr>
          <a:xfrm>
            <a:off x="11397600" y="6585564"/>
            <a:ext cx="2736000" cy="259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INSET i</a:t>
            </a:r>
            <a:endParaRPr lang="en-US" sz="1800" dirty="0"/>
          </a:p>
        </p:txBody>
      </p:sp>
      <p:sp>
        <p:nvSpPr>
          <p:cNvPr id="75" name="Shape 73"/>
          <p:cNvSpPr/>
          <p:nvPr/>
        </p:nvSpPr>
        <p:spPr>
          <a:xfrm>
            <a:off x="15274800" y="2677500"/>
            <a:ext cx="4399200" cy="643050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13970">
            <a:solidFill>
              <a:srgbClr val="008C8C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78" name="Text 76"/>
          <p:cNvSpPr/>
          <p:nvPr/>
        </p:nvSpPr>
        <p:spPr>
          <a:xfrm>
            <a:off x="15436800" y="3430800"/>
            <a:ext cx="4075200" cy="30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ii</a:t>
            </a:r>
            <a:endParaRPr lang="en-US" sz="1900" dirty="0"/>
          </a:p>
        </p:txBody>
      </p:sp>
      <p:sp>
        <p:nvSpPr>
          <p:cNvPr id="79" name="Shape 77"/>
          <p:cNvSpPr/>
          <p:nvPr/>
        </p:nvSpPr>
        <p:spPr>
          <a:xfrm>
            <a:off x="16197001" y="3227400"/>
            <a:ext cx="2736000" cy="205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008C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0" name="Text 78"/>
          <p:cNvSpPr/>
          <p:nvPr/>
        </p:nvSpPr>
        <p:spPr>
          <a:xfrm>
            <a:off x="16106400" y="6585564"/>
            <a:ext cx="2736000" cy="259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INSET ii</a:t>
            </a:r>
            <a:endParaRPr lang="en-US" sz="1800" dirty="0"/>
          </a:p>
        </p:txBody>
      </p:sp>
      <p:sp>
        <p:nvSpPr>
          <p:cNvPr id="84" name="Shape 82"/>
          <p:cNvSpPr/>
          <p:nvPr/>
        </p:nvSpPr>
        <p:spPr>
          <a:xfrm>
            <a:off x="10566000" y="9234000"/>
            <a:ext cx="9108000" cy="4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5" name="Shape 83"/>
          <p:cNvSpPr/>
          <p:nvPr/>
        </p:nvSpPr>
        <p:spPr>
          <a:xfrm>
            <a:off x="10566000" y="9234000"/>
            <a:ext cx="50400" cy="450000"/>
          </a:xfrm>
          <a:prstGeom prst="rect">
            <a:avLst/>
          </a:prstGeom>
          <a:solidFill>
            <a:srgbClr val="008C8C"/>
          </a:solidFill>
          <a:ln w="12700">
            <a:solidFill>
              <a:srgbClr val="008C8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6" name="Text 84"/>
          <p:cNvSpPr/>
          <p:nvPr/>
        </p:nvSpPr>
        <p:spPr>
          <a:xfrm>
            <a:off x="10677600" y="9262800"/>
            <a:ext cx="8892000" cy="38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800" b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Matched nbo · strongest metal-node contrast</a:t>
            </a:r>
            <a:endParaRPr lang="en-US" sz="2000" dirty="0"/>
          </a:p>
        </p:txBody>
      </p:sp>
      <p:sp>
        <p:nvSpPr>
          <p:cNvPr id="87" name="Shape 85"/>
          <p:cNvSpPr/>
          <p:nvPr/>
        </p:nvSpPr>
        <p:spPr>
          <a:xfrm>
            <a:off x="20232000" y="503662"/>
            <a:ext cx="9504000" cy="9360337"/>
          </a:xfrm>
          <a:prstGeom prst="rect">
            <a:avLst/>
          </a:prstGeom>
          <a:solidFill>
            <a:srgbClr val="FFF4E8"/>
          </a:solidFill>
          <a:ln w="14605">
            <a:solidFill>
              <a:srgbClr val="F9731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8" name="Shape 86"/>
          <p:cNvSpPr/>
          <p:nvPr/>
        </p:nvSpPr>
        <p:spPr>
          <a:xfrm>
            <a:off x="20232000" y="504000"/>
            <a:ext cx="90000" cy="9360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9" name="Text 87"/>
          <p:cNvSpPr/>
          <p:nvPr/>
        </p:nvSpPr>
        <p:spPr>
          <a:xfrm>
            <a:off x="20010781" y="360032"/>
            <a:ext cx="1063519" cy="75457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3200" dirty="0"/>
          </a:p>
        </p:txBody>
      </p:sp>
      <p:sp>
        <p:nvSpPr>
          <p:cNvPr id="90" name="Text 88"/>
          <p:cNvSpPr/>
          <p:nvPr/>
        </p:nvSpPr>
        <p:spPr>
          <a:xfrm>
            <a:off x="20804640" y="551787"/>
            <a:ext cx="5144400" cy="44149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Cu/Zn boundary</a:t>
            </a:r>
            <a:endParaRPr lang="en-US" sz="2400" dirty="0"/>
          </a:p>
        </p:txBody>
      </p:sp>
      <p:sp>
        <p:nvSpPr>
          <p:cNvPr id="91" name="Text 89"/>
          <p:cNvSpPr/>
          <p:nvPr/>
        </p:nvSpPr>
        <p:spPr>
          <a:xfrm>
            <a:off x="20821283" y="823757"/>
            <a:ext cx="6095798" cy="832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2800" b="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pressure-exception · method-sensitive</a:t>
            </a:r>
            <a:endParaRPr lang="en-US" dirty="0"/>
          </a:p>
        </p:txBody>
      </p:sp>
      <p:sp>
        <p:nvSpPr>
          <p:cNvPr id="92" name="Shape 90"/>
          <p:cNvSpPr/>
          <p:nvPr/>
        </p:nvSpPr>
        <p:spPr>
          <a:xfrm>
            <a:off x="25658964" y="590192"/>
            <a:ext cx="1280160" cy="448056"/>
          </a:xfrm>
          <a:prstGeom prst="roundRect">
            <a:avLst>
              <a:gd name="adj" fmla="val 35278"/>
            </a:avLst>
          </a:prstGeom>
          <a:solidFill>
            <a:srgbClr val="FFFFFF">
              <a:alpha val="96000"/>
            </a:srgbClr>
          </a:solidFill>
          <a:ln w="11430">
            <a:solidFill>
              <a:srgbClr val="F9731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3" name="Text 91"/>
          <p:cNvSpPr/>
          <p:nvPr/>
        </p:nvSpPr>
        <p:spPr>
          <a:xfrm>
            <a:off x="25674644" y="581336"/>
            <a:ext cx="1280160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nbo</a:t>
            </a:r>
            <a:endParaRPr lang="en-US" sz="2000" dirty="0"/>
          </a:p>
        </p:txBody>
      </p: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AC5B34E7-9B1B-4575-98CE-534EFE249CFE}"/>
              </a:ext>
            </a:extLst>
          </p:cNvPr>
          <p:cNvGrpSpPr/>
          <p:nvPr/>
        </p:nvGrpSpPr>
        <p:grpSpPr>
          <a:xfrm>
            <a:off x="27018810" y="555265"/>
            <a:ext cx="2587752" cy="513830"/>
            <a:chOff x="26964000" y="564802"/>
            <a:chExt cx="2587752" cy="513830"/>
          </a:xfrm>
        </p:grpSpPr>
        <p:sp>
          <p:nvSpPr>
            <p:cNvPr id="94" name="Shape 92"/>
            <p:cNvSpPr/>
            <p:nvPr/>
          </p:nvSpPr>
          <p:spPr>
            <a:xfrm>
              <a:off x="26964000" y="594000"/>
              <a:ext cx="2587752" cy="484632"/>
            </a:xfrm>
            <a:prstGeom prst="roundRect">
              <a:avLst>
                <a:gd name="adj" fmla="val 35278"/>
              </a:avLst>
            </a:prstGeom>
            <a:solidFill>
              <a:srgbClr val="FFFFFF">
                <a:alpha val="96000"/>
              </a:srgbClr>
            </a:solidFill>
            <a:ln w="11430">
              <a:solidFill>
                <a:srgbClr val="F97316"/>
              </a:solidFill>
              <a:prstDash val="solid"/>
            </a:ln>
          </p:spPr>
          <p:txBody>
            <a:bodyPr/>
            <a:lstStyle/>
            <a:p>
              <a:endParaRPr dirty="0"/>
            </a:p>
          </p:txBody>
        </p:sp>
        <p:sp>
          <p:nvSpPr>
            <p:cNvPr id="95" name="Text 93"/>
            <p:cNvSpPr/>
            <p:nvPr/>
          </p:nvSpPr>
          <p:spPr>
            <a:xfrm>
              <a:off x="27001314" y="564802"/>
              <a:ext cx="2513124" cy="512954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F9731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BOUNDARY</a:t>
              </a:r>
              <a:endParaRPr lang="en-US" sz="2400" dirty="0"/>
            </a:p>
          </p:txBody>
        </p:sp>
      </p:grpSp>
      <p:sp>
        <p:nvSpPr>
          <p:cNvPr id="96" name="Shape 94"/>
          <p:cNvSpPr/>
          <p:nvPr/>
        </p:nvSpPr>
        <p:spPr>
          <a:xfrm>
            <a:off x="20427240" y="1596519"/>
            <a:ext cx="2124000" cy="850392"/>
          </a:xfrm>
          <a:prstGeom prst="rect">
            <a:avLst/>
          </a:prstGeom>
          <a:solidFill>
            <a:srgbClr val="FFFFFF"/>
          </a:solidFill>
          <a:ln w="11430">
            <a:solidFill>
              <a:srgbClr val="F9731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7" name="Text 95"/>
          <p:cNvSpPr/>
          <p:nvPr/>
        </p:nvSpPr>
        <p:spPr>
          <a:xfrm>
            <a:off x="20396757" y="1647574"/>
            <a:ext cx="2239200" cy="378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MED. |</a:t>
            </a:r>
            <a:r>
              <a:rPr lang="el-GR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</a:t>
            </a:r>
            <a:r>
              <a:rPr lang="en-US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ads.|</a:t>
            </a:r>
            <a:endParaRPr lang="en-US" sz="1400" dirty="0"/>
          </a:p>
        </p:txBody>
      </p:sp>
      <p:sp>
        <p:nvSpPr>
          <p:cNvPr id="98" name="Text 96"/>
          <p:cNvSpPr/>
          <p:nvPr/>
        </p:nvSpPr>
        <p:spPr>
          <a:xfrm>
            <a:off x="20499096" y="2029884"/>
            <a:ext cx="2062800" cy="39113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0.0820</a:t>
            </a:r>
            <a:endParaRPr lang="en-US" dirty="0"/>
          </a:p>
        </p:txBody>
      </p:sp>
      <p:sp>
        <p:nvSpPr>
          <p:cNvPr id="99" name="Shape 97"/>
          <p:cNvSpPr/>
          <p:nvPr/>
        </p:nvSpPr>
        <p:spPr>
          <a:xfrm>
            <a:off x="22742040" y="1598362"/>
            <a:ext cx="2124000" cy="850392"/>
          </a:xfrm>
          <a:prstGeom prst="rect">
            <a:avLst/>
          </a:prstGeom>
          <a:solidFill>
            <a:srgbClr val="FFFFFF"/>
          </a:solidFill>
          <a:ln w="11430">
            <a:solidFill>
              <a:srgbClr val="F97316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100" name="Text 98"/>
          <p:cNvSpPr/>
          <p:nvPr/>
        </p:nvSpPr>
        <p:spPr>
          <a:xfrm>
            <a:off x="22720728" y="1642043"/>
            <a:ext cx="2145312" cy="43515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 CONCORD.</a:t>
            </a:r>
            <a:endParaRPr lang="en-US" sz="1400" dirty="0"/>
          </a:p>
        </p:txBody>
      </p:sp>
      <p:sp>
        <p:nvSpPr>
          <p:cNvPr id="101" name="Text 99"/>
          <p:cNvSpPr/>
          <p:nvPr/>
        </p:nvSpPr>
        <p:spPr>
          <a:xfrm>
            <a:off x="22720728" y="2037128"/>
            <a:ext cx="2124000" cy="416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dirty="0"/>
          </a:p>
        </p:txBody>
      </p:sp>
      <p:sp>
        <p:nvSpPr>
          <p:cNvPr id="102" name="Shape 100"/>
          <p:cNvSpPr/>
          <p:nvPr/>
        </p:nvSpPr>
        <p:spPr>
          <a:xfrm>
            <a:off x="25056840" y="1596519"/>
            <a:ext cx="2124000" cy="850392"/>
          </a:xfrm>
          <a:prstGeom prst="rect">
            <a:avLst/>
          </a:prstGeom>
          <a:solidFill>
            <a:srgbClr val="FFFFFF"/>
          </a:solidFill>
          <a:ln w="11430">
            <a:solidFill>
              <a:srgbClr val="F9731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3" name="Text 101"/>
          <p:cNvSpPr/>
          <p:nvPr/>
        </p:nvSpPr>
        <p:spPr>
          <a:xfrm>
            <a:off x="25035528" y="1646348"/>
            <a:ext cx="2238912" cy="40525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SEL. CONCORD.</a:t>
            </a:r>
            <a:endParaRPr lang="en-US" sz="1400" dirty="0"/>
          </a:p>
        </p:txBody>
      </p:sp>
      <p:sp>
        <p:nvSpPr>
          <p:cNvPr id="104" name="Text 102"/>
          <p:cNvSpPr/>
          <p:nvPr/>
        </p:nvSpPr>
        <p:spPr>
          <a:xfrm>
            <a:off x="25035528" y="2039075"/>
            <a:ext cx="2145312" cy="370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2000" dirty="0"/>
          </a:p>
        </p:txBody>
      </p:sp>
      <p:sp>
        <p:nvSpPr>
          <p:cNvPr id="105" name="Shape 103"/>
          <p:cNvSpPr/>
          <p:nvPr/>
        </p:nvSpPr>
        <p:spPr>
          <a:xfrm>
            <a:off x="27371640" y="1592695"/>
            <a:ext cx="2124000" cy="850392"/>
          </a:xfrm>
          <a:prstGeom prst="rect">
            <a:avLst/>
          </a:prstGeom>
          <a:solidFill>
            <a:srgbClr val="FFFFFF"/>
          </a:solidFill>
          <a:ln w="11430">
            <a:solidFill>
              <a:srgbClr val="F9731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6" name="Text 104"/>
          <p:cNvSpPr/>
          <p:nvPr/>
        </p:nvSpPr>
        <p:spPr>
          <a:xfrm>
            <a:off x="27371640" y="1640787"/>
            <a:ext cx="2124000" cy="40827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GEO./CAL.</a:t>
            </a:r>
            <a:endParaRPr lang="en-US" sz="1400" dirty="0"/>
          </a:p>
        </p:txBody>
      </p:sp>
      <p:sp>
        <p:nvSpPr>
          <p:cNvPr id="107" name="Text 105"/>
          <p:cNvSpPr/>
          <p:nvPr/>
        </p:nvSpPr>
        <p:spPr>
          <a:xfrm>
            <a:off x="27371640" y="2096012"/>
            <a:ext cx="2124000" cy="34707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0.842</a:t>
            </a:r>
            <a:endParaRPr lang="en-US" sz="2000" dirty="0"/>
          </a:p>
        </p:txBody>
      </p:sp>
      <p:sp>
        <p:nvSpPr>
          <p:cNvPr id="108" name="Shape 106"/>
          <p:cNvSpPr/>
          <p:nvPr/>
        </p:nvSpPr>
        <p:spPr>
          <a:xfrm>
            <a:off x="20430000" y="2677500"/>
            <a:ext cx="4399200" cy="643050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13970">
            <a:solidFill>
              <a:srgbClr val="F97316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111" name="Text 109"/>
          <p:cNvSpPr/>
          <p:nvPr/>
        </p:nvSpPr>
        <p:spPr>
          <a:xfrm>
            <a:off x="20592000" y="3430800"/>
            <a:ext cx="4075200" cy="30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i</a:t>
            </a:r>
            <a:endParaRPr lang="en-US" sz="1900" dirty="0"/>
          </a:p>
        </p:txBody>
      </p:sp>
      <p:sp>
        <p:nvSpPr>
          <p:cNvPr id="112" name="Shape 110"/>
          <p:cNvSpPr/>
          <p:nvPr/>
        </p:nvSpPr>
        <p:spPr>
          <a:xfrm>
            <a:off x="21315395" y="3306158"/>
            <a:ext cx="2736000" cy="205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3" name="Text 111"/>
          <p:cNvSpPr/>
          <p:nvPr/>
        </p:nvSpPr>
        <p:spPr>
          <a:xfrm>
            <a:off x="21261600" y="6585564"/>
            <a:ext cx="2736000" cy="259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INSET i</a:t>
            </a:r>
            <a:endParaRPr lang="en-US" sz="1800" dirty="0"/>
          </a:p>
        </p:txBody>
      </p:sp>
      <p:sp>
        <p:nvSpPr>
          <p:cNvPr id="117" name="Shape 115"/>
          <p:cNvSpPr/>
          <p:nvPr/>
        </p:nvSpPr>
        <p:spPr>
          <a:xfrm>
            <a:off x="25138800" y="2677500"/>
            <a:ext cx="4399200" cy="643050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13970">
            <a:solidFill>
              <a:srgbClr val="F97316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120" name="Text 118"/>
          <p:cNvSpPr/>
          <p:nvPr/>
        </p:nvSpPr>
        <p:spPr>
          <a:xfrm>
            <a:off x="25300800" y="3430800"/>
            <a:ext cx="4075200" cy="30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ii</a:t>
            </a:r>
            <a:endParaRPr lang="en-US" sz="1900" dirty="0"/>
          </a:p>
        </p:txBody>
      </p:sp>
      <p:sp>
        <p:nvSpPr>
          <p:cNvPr id="121" name="Shape 119"/>
          <p:cNvSpPr/>
          <p:nvPr/>
        </p:nvSpPr>
        <p:spPr>
          <a:xfrm>
            <a:off x="26046000" y="3411000"/>
            <a:ext cx="2736000" cy="205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2" name="Text 120"/>
          <p:cNvSpPr/>
          <p:nvPr/>
        </p:nvSpPr>
        <p:spPr>
          <a:xfrm>
            <a:off x="25970400" y="6585564"/>
            <a:ext cx="2736000" cy="259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INSET ii</a:t>
            </a:r>
            <a:endParaRPr lang="en-US" sz="1800" dirty="0"/>
          </a:p>
        </p:txBody>
      </p:sp>
      <p:sp>
        <p:nvSpPr>
          <p:cNvPr id="126" name="Shape 124"/>
          <p:cNvSpPr/>
          <p:nvPr/>
        </p:nvSpPr>
        <p:spPr>
          <a:xfrm>
            <a:off x="20430000" y="9234000"/>
            <a:ext cx="9108000" cy="4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7" name="Shape 125"/>
          <p:cNvSpPr/>
          <p:nvPr/>
        </p:nvSpPr>
        <p:spPr>
          <a:xfrm>
            <a:off x="20430000" y="9234000"/>
            <a:ext cx="50400" cy="450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8" name="Text 126"/>
          <p:cNvSpPr/>
          <p:nvPr/>
        </p:nvSpPr>
        <p:spPr>
          <a:xfrm>
            <a:off x="20541600" y="9262800"/>
            <a:ext cx="8892000" cy="38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800" b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Distance-defined / method-sensitive local view</a:t>
            </a:r>
            <a:endParaRPr lang="en-US" sz="2000" dirty="0"/>
          </a:p>
        </p:txBody>
      </p:sp>
      <p:sp>
        <p:nvSpPr>
          <p:cNvPr id="129" name="Shape 127"/>
          <p:cNvSpPr/>
          <p:nvPr/>
        </p:nvSpPr>
        <p:spPr>
          <a:xfrm>
            <a:off x="504000" y="10296000"/>
            <a:ext cx="9504000" cy="9360000"/>
          </a:xfrm>
          <a:prstGeom prst="rect">
            <a:avLst/>
          </a:prstGeom>
          <a:solidFill>
            <a:srgbClr val="F4EDFF"/>
          </a:solidFill>
          <a:ln w="14605">
            <a:solidFill>
              <a:srgbClr val="7C3AED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130" name="Shape 128"/>
          <p:cNvSpPr/>
          <p:nvPr/>
        </p:nvSpPr>
        <p:spPr>
          <a:xfrm>
            <a:off x="504000" y="10296000"/>
            <a:ext cx="90000" cy="9360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1" name="Text 129"/>
          <p:cNvSpPr/>
          <p:nvPr/>
        </p:nvSpPr>
        <p:spPr>
          <a:xfrm>
            <a:off x="421063" y="10124992"/>
            <a:ext cx="792000" cy="82915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3200" dirty="0"/>
          </a:p>
        </p:txBody>
      </p:sp>
      <p:sp>
        <p:nvSpPr>
          <p:cNvPr id="132" name="Text 130"/>
          <p:cNvSpPr/>
          <p:nvPr/>
        </p:nvSpPr>
        <p:spPr>
          <a:xfrm>
            <a:off x="1049469" y="10263803"/>
            <a:ext cx="5281062" cy="58243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Near-null linker</a:t>
            </a:r>
            <a:endParaRPr lang="en-US" sz="2400" dirty="0"/>
          </a:p>
        </p:txBody>
      </p:sp>
      <p:sp>
        <p:nvSpPr>
          <p:cNvPr id="133" name="Text 131"/>
          <p:cNvSpPr/>
          <p:nvPr/>
        </p:nvSpPr>
        <p:spPr>
          <a:xfrm>
            <a:off x="1049466" y="10631663"/>
            <a:ext cx="7093733" cy="76843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2800" b="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subtle contrast · strongest geometry control</a:t>
            </a:r>
            <a:endParaRPr lang="en-US" sz="1600" dirty="0"/>
          </a:p>
        </p:txBody>
      </p:sp>
      <p:sp>
        <p:nvSpPr>
          <p:cNvPr id="134" name="Shape 132"/>
          <p:cNvSpPr/>
          <p:nvPr/>
        </p:nvSpPr>
        <p:spPr>
          <a:xfrm>
            <a:off x="5866966" y="10355262"/>
            <a:ext cx="1280160" cy="493776"/>
          </a:xfrm>
          <a:prstGeom prst="roundRect">
            <a:avLst>
              <a:gd name="adj" fmla="val 35278"/>
            </a:avLst>
          </a:prstGeom>
          <a:solidFill>
            <a:srgbClr val="FFFFFF">
              <a:alpha val="96000"/>
            </a:srgbClr>
          </a:solidFill>
          <a:ln w="1143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5" name="Text 133"/>
          <p:cNvSpPr/>
          <p:nvPr/>
        </p:nvSpPr>
        <p:spPr>
          <a:xfrm>
            <a:off x="5843165" y="10341574"/>
            <a:ext cx="1342435" cy="48630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nbo</a:t>
            </a:r>
            <a:endParaRPr lang="en-US" sz="2000" dirty="0"/>
          </a:p>
        </p:txBody>
      </p:sp>
      <p:sp>
        <p:nvSpPr>
          <p:cNvPr id="136" name="Shape 134"/>
          <p:cNvSpPr/>
          <p:nvPr/>
        </p:nvSpPr>
        <p:spPr>
          <a:xfrm>
            <a:off x="7221925" y="10341574"/>
            <a:ext cx="2587752" cy="521208"/>
          </a:xfrm>
          <a:prstGeom prst="roundRect">
            <a:avLst>
              <a:gd name="adj" fmla="val 35278"/>
            </a:avLst>
          </a:prstGeom>
          <a:solidFill>
            <a:srgbClr val="FFFFFF">
              <a:alpha val="96000"/>
            </a:srgbClr>
          </a:solidFill>
          <a:ln w="1143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7" name="Text 135"/>
          <p:cNvSpPr/>
          <p:nvPr/>
        </p:nvSpPr>
        <p:spPr>
          <a:xfrm>
            <a:off x="7284199" y="10331852"/>
            <a:ext cx="2475725" cy="510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NEAR-NULL</a:t>
            </a:r>
            <a:endParaRPr lang="en-US" sz="2000" dirty="0"/>
          </a:p>
        </p:txBody>
      </p:sp>
      <p:sp>
        <p:nvSpPr>
          <p:cNvPr id="138" name="Shape 136"/>
          <p:cNvSpPr/>
          <p:nvPr/>
        </p:nvSpPr>
        <p:spPr>
          <a:xfrm>
            <a:off x="737170" y="11463801"/>
            <a:ext cx="2124000" cy="850392"/>
          </a:xfrm>
          <a:prstGeom prst="rect">
            <a:avLst/>
          </a:prstGeom>
          <a:solidFill>
            <a:srgbClr val="FFFFFF"/>
          </a:solidFill>
          <a:ln w="1143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9" name="Text 137"/>
          <p:cNvSpPr/>
          <p:nvPr/>
        </p:nvSpPr>
        <p:spPr>
          <a:xfrm>
            <a:off x="737170" y="11506929"/>
            <a:ext cx="2110920" cy="37107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MED. |</a:t>
            </a:r>
            <a:r>
              <a:rPr lang="el-GR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</a:t>
            </a:r>
            <a:r>
              <a:rPr lang="en-US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ads.|</a:t>
            </a:r>
            <a:endParaRPr lang="en-US" sz="1400" dirty="0"/>
          </a:p>
        </p:txBody>
      </p:sp>
      <p:sp>
        <p:nvSpPr>
          <p:cNvPr id="140" name="Text 138"/>
          <p:cNvSpPr/>
          <p:nvPr/>
        </p:nvSpPr>
        <p:spPr>
          <a:xfrm>
            <a:off x="752400" y="11844078"/>
            <a:ext cx="2108770" cy="46653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0.0125</a:t>
            </a:r>
            <a:endParaRPr lang="en-US" sz="2000" dirty="0"/>
          </a:p>
        </p:txBody>
      </p:sp>
      <p:sp>
        <p:nvSpPr>
          <p:cNvPr id="141" name="Shape 139"/>
          <p:cNvSpPr/>
          <p:nvPr/>
        </p:nvSpPr>
        <p:spPr>
          <a:xfrm>
            <a:off x="3038890" y="11461750"/>
            <a:ext cx="2124000" cy="850392"/>
          </a:xfrm>
          <a:prstGeom prst="rect">
            <a:avLst/>
          </a:prstGeom>
          <a:solidFill>
            <a:srgbClr val="FFFFFF"/>
          </a:solidFill>
          <a:ln w="11430">
            <a:solidFill>
              <a:srgbClr val="7C3AED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142" name="Text 140"/>
          <p:cNvSpPr/>
          <p:nvPr/>
        </p:nvSpPr>
        <p:spPr>
          <a:xfrm>
            <a:off x="3051970" y="11510650"/>
            <a:ext cx="2110920" cy="36167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 CONCORD.</a:t>
            </a:r>
            <a:endParaRPr lang="en-US" sz="1400" dirty="0"/>
          </a:p>
        </p:txBody>
      </p:sp>
      <p:sp>
        <p:nvSpPr>
          <p:cNvPr id="143" name="Text 141"/>
          <p:cNvSpPr/>
          <p:nvPr/>
        </p:nvSpPr>
        <p:spPr>
          <a:xfrm>
            <a:off x="3059809" y="11897238"/>
            <a:ext cx="2124000" cy="38999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2000" dirty="0"/>
          </a:p>
        </p:txBody>
      </p:sp>
      <p:sp>
        <p:nvSpPr>
          <p:cNvPr id="144" name="Shape 142"/>
          <p:cNvSpPr/>
          <p:nvPr/>
        </p:nvSpPr>
        <p:spPr>
          <a:xfrm>
            <a:off x="5353690" y="11463801"/>
            <a:ext cx="2124000" cy="850392"/>
          </a:xfrm>
          <a:prstGeom prst="rect">
            <a:avLst/>
          </a:prstGeom>
          <a:solidFill>
            <a:srgbClr val="FFFFFF"/>
          </a:solidFill>
          <a:ln w="11430">
            <a:solidFill>
              <a:srgbClr val="7C3AED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145" name="Text 143"/>
          <p:cNvSpPr/>
          <p:nvPr/>
        </p:nvSpPr>
        <p:spPr>
          <a:xfrm>
            <a:off x="5353690" y="11516224"/>
            <a:ext cx="2124000" cy="35052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SEL. CONCORD.</a:t>
            </a:r>
            <a:endParaRPr lang="en-US" sz="1400" dirty="0"/>
          </a:p>
        </p:txBody>
      </p:sp>
      <p:sp>
        <p:nvSpPr>
          <p:cNvPr id="146" name="Text 144"/>
          <p:cNvSpPr/>
          <p:nvPr/>
        </p:nvSpPr>
        <p:spPr>
          <a:xfrm>
            <a:off x="5353690" y="11920625"/>
            <a:ext cx="2124000" cy="404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0.75</a:t>
            </a:r>
            <a:endParaRPr lang="en-US" sz="2000" dirty="0"/>
          </a:p>
        </p:txBody>
      </p:sp>
      <p:sp>
        <p:nvSpPr>
          <p:cNvPr id="147" name="Shape 145"/>
          <p:cNvSpPr/>
          <p:nvPr/>
        </p:nvSpPr>
        <p:spPr>
          <a:xfrm>
            <a:off x="7668490" y="11463801"/>
            <a:ext cx="2124000" cy="850392"/>
          </a:xfrm>
          <a:prstGeom prst="rect">
            <a:avLst/>
          </a:prstGeom>
          <a:solidFill>
            <a:srgbClr val="FFFFFF"/>
          </a:solidFill>
          <a:ln w="11430">
            <a:solidFill>
              <a:srgbClr val="7C3AED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148" name="Text 146"/>
          <p:cNvSpPr/>
          <p:nvPr/>
        </p:nvSpPr>
        <p:spPr>
          <a:xfrm>
            <a:off x="7668490" y="11506833"/>
            <a:ext cx="2124000" cy="359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GEO./CAL.</a:t>
            </a:r>
            <a:endParaRPr lang="en-US" sz="1400" dirty="0"/>
          </a:p>
        </p:txBody>
      </p:sp>
      <p:sp>
        <p:nvSpPr>
          <p:cNvPr id="149" name="Text 147"/>
          <p:cNvSpPr/>
          <p:nvPr/>
        </p:nvSpPr>
        <p:spPr>
          <a:xfrm>
            <a:off x="7668490" y="11920625"/>
            <a:ext cx="2124000" cy="393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0.147</a:t>
            </a:r>
            <a:endParaRPr lang="en-US" sz="2000" dirty="0"/>
          </a:p>
        </p:txBody>
      </p:sp>
      <p:sp>
        <p:nvSpPr>
          <p:cNvPr id="150" name="Shape 148"/>
          <p:cNvSpPr/>
          <p:nvPr/>
        </p:nvSpPr>
        <p:spPr>
          <a:xfrm>
            <a:off x="702000" y="12511269"/>
            <a:ext cx="4399200" cy="638873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1397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3" name="Text 151"/>
          <p:cNvSpPr/>
          <p:nvPr/>
        </p:nvSpPr>
        <p:spPr>
          <a:xfrm>
            <a:off x="864000" y="13222800"/>
            <a:ext cx="4075200" cy="30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i</a:t>
            </a:r>
            <a:endParaRPr lang="en-US" sz="1900" dirty="0"/>
          </a:p>
        </p:txBody>
      </p:sp>
      <p:sp>
        <p:nvSpPr>
          <p:cNvPr id="154" name="Shape 152"/>
          <p:cNvSpPr/>
          <p:nvPr/>
        </p:nvSpPr>
        <p:spPr>
          <a:xfrm>
            <a:off x="1522800" y="12983400"/>
            <a:ext cx="2736000" cy="205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5" name="Text 153"/>
          <p:cNvSpPr/>
          <p:nvPr/>
        </p:nvSpPr>
        <p:spPr>
          <a:xfrm>
            <a:off x="1533600" y="16512360"/>
            <a:ext cx="2736000" cy="259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INSET i</a:t>
            </a:r>
            <a:endParaRPr lang="en-US" sz="1800" dirty="0"/>
          </a:p>
        </p:txBody>
      </p:sp>
      <p:sp>
        <p:nvSpPr>
          <p:cNvPr id="159" name="Shape 157"/>
          <p:cNvSpPr/>
          <p:nvPr/>
        </p:nvSpPr>
        <p:spPr>
          <a:xfrm>
            <a:off x="5410800" y="12511268"/>
            <a:ext cx="4399200" cy="6388731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1397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2" name="Text 160"/>
          <p:cNvSpPr/>
          <p:nvPr/>
        </p:nvSpPr>
        <p:spPr>
          <a:xfrm>
            <a:off x="5572800" y="13222800"/>
            <a:ext cx="4075200" cy="30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ii</a:t>
            </a:r>
            <a:endParaRPr lang="en-US" sz="1900" dirty="0"/>
          </a:p>
        </p:txBody>
      </p:sp>
      <p:sp>
        <p:nvSpPr>
          <p:cNvPr id="163" name="Shape 161"/>
          <p:cNvSpPr/>
          <p:nvPr/>
        </p:nvSpPr>
        <p:spPr>
          <a:xfrm>
            <a:off x="6260400" y="13143065"/>
            <a:ext cx="2736000" cy="205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4" name="Text 162"/>
          <p:cNvSpPr/>
          <p:nvPr/>
        </p:nvSpPr>
        <p:spPr>
          <a:xfrm>
            <a:off x="6282000" y="16512951"/>
            <a:ext cx="2736000" cy="259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INSET ii</a:t>
            </a:r>
            <a:endParaRPr lang="en-US" sz="1800" dirty="0"/>
          </a:p>
        </p:txBody>
      </p:sp>
      <p:sp>
        <p:nvSpPr>
          <p:cNvPr id="168" name="Shape 166"/>
          <p:cNvSpPr/>
          <p:nvPr/>
        </p:nvSpPr>
        <p:spPr>
          <a:xfrm>
            <a:off x="702000" y="19026000"/>
            <a:ext cx="9108000" cy="4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9" name="Shape 167"/>
          <p:cNvSpPr/>
          <p:nvPr/>
        </p:nvSpPr>
        <p:spPr>
          <a:xfrm>
            <a:off x="702000" y="19026000"/>
            <a:ext cx="50400" cy="450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0" name="Text 168"/>
          <p:cNvSpPr/>
          <p:nvPr/>
        </p:nvSpPr>
        <p:spPr>
          <a:xfrm>
            <a:off x="813600" y="19054800"/>
            <a:ext cx="8892000" cy="38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800" b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Near-null comparator · not inactive</a:t>
            </a:r>
            <a:endParaRPr lang="en-US" sz="2000" dirty="0"/>
          </a:p>
        </p:txBody>
      </p:sp>
      <p:sp>
        <p:nvSpPr>
          <p:cNvPr id="171" name="Shape 169"/>
          <p:cNvSpPr/>
          <p:nvPr/>
        </p:nvSpPr>
        <p:spPr>
          <a:xfrm>
            <a:off x="10368000" y="10296000"/>
            <a:ext cx="9504000" cy="9360000"/>
          </a:xfrm>
          <a:prstGeom prst="rect">
            <a:avLst/>
          </a:prstGeom>
          <a:solidFill>
            <a:srgbClr val="FFF1F4"/>
          </a:solidFill>
          <a:ln w="14605">
            <a:solidFill>
              <a:srgbClr val="E11D48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172" name="Shape 170"/>
          <p:cNvSpPr/>
          <p:nvPr/>
        </p:nvSpPr>
        <p:spPr>
          <a:xfrm>
            <a:off x="10368000" y="10296000"/>
            <a:ext cx="90000" cy="936000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3" name="Text 171"/>
          <p:cNvSpPr/>
          <p:nvPr/>
        </p:nvSpPr>
        <p:spPr>
          <a:xfrm>
            <a:off x="10187198" y="10064259"/>
            <a:ext cx="975276" cy="9219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3200" dirty="0"/>
          </a:p>
        </p:txBody>
      </p:sp>
      <p:sp>
        <p:nvSpPr>
          <p:cNvPr id="174" name="Text 172"/>
          <p:cNvSpPr/>
          <p:nvPr/>
        </p:nvSpPr>
        <p:spPr>
          <a:xfrm>
            <a:off x="10972800" y="10331999"/>
            <a:ext cx="4844176" cy="47779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Process-discordant</a:t>
            </a:r>
            <a:endParaRPr lang="en-US" sz="2800" dirty="0"/>
          </a:p>
        </p:txBody>
      </p:sp>
      <p:sp>
        <p:nvSpPr>
          <p:cNvPr id="175" name="Text 173"/>
          <p:cNvSpPr/>
          <p:nvPr/>
        </p:nvSpPr>
        <p:spPr>
          <a:xfrm>
            <a:off x="10940400" y="10643342"/>
            <a:ext cx="6285166" cy="72838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2800" b="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descriptive local chemistry contrast</a:t>
            </a:r>
            <a:endParaRPr lang="en-US" dirty="0"/>
          </a:p>
        </p:txBody>
      </p:sp>
      <p:sp>
        <p:nvSpPr>
          <p:cNvPr id="176" name="Shape 174"/>
          <p:cNvSpPr/>
          <p:nvPr/>
        </p:nvSpPr>
        <p:spPr>
          <a:xfrm>
            <a:off x="15729840" y="10355262"/>
            <a:ext cx="1280160" cy="493776"/>
          </a:xfrm>
          <a:prstGeom prst="roundRect">
            <a:avLst>
              <a:gd name="adj" fmla="val 35278"/>
            </a:avLst>
          </a:prstGeom>
          <a:solidFill>
            <a:srgbClr val="FFFFFF">
              <a:alpha val="96000"/>
            </a:srgbClr>
          </a:solidFill>
          <a:ln w="11430">
            <a:solidFill>
              <a:srgbClr val="E11D48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177" name="Text 175"/>
          <p:cNvSpPr/>
          <p:nvPr/>
        </p:nvSpPr>
        <p:spPr>
          <a:xfrm>
            <a:off x="15743960" y="10416741"/>
            <a:ext cx="1284040" cy="39802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fsc</a:t>
            </a:r>
            <a:endParaRPr lang="en-US" sz="2000" dirty="0"/>
          </a:p>
        </p:txBody>
      </p:sp>
      <p:sp>
        <p:nvSpPr>
          <p:cNvPr id="178" name="Shape 176"/>
          <p:cNvSpPr/>
          <p:nvPr/>
        </p:nvSpPr>
        <p:spPr>
          <a:xfrm>
            <a:off x="17100000" y="10344756"/>
            <a:ext cx="2538000" cy="521208"/>
          </a:xfrm>
          <a:prstGeom prst="roundRect">
            <a:avLst>
              <a:gd name="adj" fmla="val 35278"/>
            </a:avLst>
          </a:prstGeom>
          <a:solidFill>
            <a:srgbClr val="FFFFFF">
              <a:alpha val="96000"/>
            </a:srgbClr>
          </a:solidFill>
          <a:ln w="11430">
            <a:solidFill>
              <a:srgbClr val="E11D4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9" name="Text 177"/>
          <p:cNvSpPr/>
          <p:nvPr/>
        </p:nvSpPr>
        <p:spPr>
          <a:xfrm>
            <a:off x="17103200" y="10332507"/>
            <a:ext cx="2513360" cy="543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DISCORDANT</a:t>
            </a:r>
            <a:endParaRPr lang="en-US" sz="2000" dirty="0"/>
          </a:p>
        </p:txBody>
      </p:sp>
      <p:sp>
        <p:nvSpPr>
          <p:cNvPr id="180" name="Shape 178"/>
          <p:cNvSpPr/>
          <p:nvPr/>
        </p:nvSpPr>
        <p:spPr>
          <a:xfrm>
            <a:off x="10573620" y="11469762"/>
            <a:ext cx="2124000" cy="850392"/>
          </a:xfrm>
          <a:prstGeom prst="rect">
            <a:avLst/>
          </a:prstGeom>
          <a:solidFill>
            <a:srgbClr val="FFFFFF"/>
          </a:solidFill>
          <a:ln w="11430">
            <a:solidFill>
              <a:srgbClr val="E11D48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181" name="Text 179"/>
          <p:cNvSpPr/>
          <p:nvPr/>
        </p:nvSpPr>
        <p:spPr>
          <a:xfrm>
            <a:off x="10573620" y="11520432"/>
            <a:ext cx="2124000" cy="352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MED. |</a:t>
            </a:r>
            <a:r>
              <a:rPr lang="el-GR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</a:t>
            </a:r>
            <a:r>
              <a:rPr lang="en-US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ads.|</a:t>
            </a:r>
            <a:endParaRPr lang="en-US" sz="1400" dirty="0"/>
          </a:p>
        </p:txBody>
      </p:sp>
      <p:sp>
        <p:nvSpPr>
          <p:cNvPr id="182" name="Text 180"/>
          <p:cNvSpPr/>
          <p:nvPr/>
        </p:nvSpPr>
        <p:spPr>
          <a:xfrm>
            <a:off x="10593420" y="11872600"/>
            <a:ext cx="2115000" cy="49226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0.0641</a:t>
            </a:r>
            <a:endParaRPr lang="en-US" dirty="0"/>
          </a:p>
        </p:txBody>
      </p:sp>
      <p:sp>
        <p:nvSpPr>
          <p:cNvPr id="183" name="Shape 181"/>
          <p:cNvSpPr/>
          <p:nvPr/>
        </p:nvSpPr>
        <p:spPr>
          <a:xfrm>
            <a:off x="12879420" y="11480876"/>
            <a:ext cx="2124000" cy="850392"/>
          </a:xfrm>
          <a:prstGeom prst="rect">
            <a:avLst/>
          </a:prstGeom>
          <a:solidFill>
            <a:srgbClr val="FFFFFF"/>
          </a:solidFill>
          <a:ln w="11430">
            <a:solidFill>
              <a:srgbClr val="E11D4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4" name="Text 182"/>
          <p:cNvSpPr/>
          <p:nvPr/>
        </p:nvSpPr>
        <p:spPr>
          <a:xfrm>
            <a:off x="12879420" y="11554299"/>
            <a:ext cx="2124000" cy="315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 CONCORD.</a:t>
            </a:r>
            <a:endParaRPr lang="en-US" sz="1400" dirty="0"/>
          </a:p>
        </p:txBody>
      </p:sp>
      <p:sp>
        <p:nvSpPr>
          <p:cNvPr id="185" name="Text 183"/>
          <p:cNvSpPr/>
          <p:nvPr/>
        </p:nvSpPr>
        <p:spPr>
          <a:xfrm>
            <a:off x="12879415" y="11882498"/>
            <a:ext cx="2115000" cy="49226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0.20</a:t>
            </a:r>
            <a:endParaRPr lang="en-US" sz="2000" dirty="0"/>
          </a:p>
        </p:txBody>
      </p:sp>
      <p:sp>
        <p:nvSpPr>
          <p:cNvPr id="186" name="Shape 184"/>
          <p:cNvSpPr/>
          <p:nvPr/>
        </p:nvSpPr>
        <p:spPr>
          <a:xfrm>
            <a:off x="15194220" y="11480354"/>
            <a:ext cx="2124000" cy="850392"/>
          </a:xfrm>
          <a:prstGeom prst="rect">
            <a:avLst/>
          </a:prstGeom>
          <a:solidFill>
            <a:srgbClr val="FFFFFF"/>
          </a:solidFill>
          <a:ln w="11430">
            <a:solidFill>
              <a:srgbClr val="E11D4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7" name="Text 185"/>
          <p:cNvSpPr/>
          <p:nvPr/>
        </p:nvSpPr>
        <p:spPr>
          <a:xfrm>
            <a:off x="15203220" y="11535206"/>
            <a:ext cx="2115000" cy="359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SEL. CONCORD.</a:t>
            </a:r>
            <a:endParaRPr lang="en-US" sz="1400" dirty="0"/>
          </a:p>
        </p:txBody>
      </p:sp>
      <p:sp>
        <p:nvSpPr>
          <p:cNvPr id="188" name="Text 186"/>
          <p:cNvSpPr/>
          <p:nvPr/>
        </p:nvSpPr>
        <p:spPr>
          <a:xfrm>
            <a:off x="15160015" y="11873846"/>
            <a:ext cx="2124000" cy="50881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0.25</a:t>
            </a:r>
            <a:endParaRPr lang="en-US" dirty="0"/>
          </a:p>
        </p:txBody>
      </p:sp>
      <p:sp>
        <p:nvSpPr>
          <p:cNvPr id="189" name="Shape 187"/>
          <p:cNvSpPr/>
          <p:nvPr/>
        </p:nvSpPr>
        <p:spPr>
          <a:xfrm>
            <a:off x="17509020" y="11469762"/>
            <a:ext cx="2124000" cy="850392"/>
          </a:xfrm>
          <a:prstGeom prst="rect">
            <a:avLst/>
          </a:prstGeom>
          <a:solidFill>
            <a:srgbClr val="FFFFFF"/>
          </a:solidFill>
          <a:ln w="11430">
            <a:solidFill>
              <a:srgbClr val="E11D4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0" name="Text 188"/>
          <p:cNvSpPr/>
          <p:nvPr/>
        </p:nvSpPr>
        <p:spPr>
          <a:xfrm>
            <a:off x="17523100" y="11541488"/>
            <a:ext cx="2115000" cy="31945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GEO./CAL.</a:t>
            </a:r>
            <a:endParaRPr lang="en-US" sz="1400" dirty="0"/>
          </a:p>
        </p:txBody>
      </p:sp>
      <p:sp>
        <p:nvSpPr>
          <p:cNvPr id="191" name="Text 189"/>
          <p:cNvSpPr/>
          <p:nvPr/>
        </p:nvSpPr>
        <p:spPr>
          <a:xfrm>
            <a:off x="17528180" y="11873241"/>
            <a:ext cx="2115000" cy="49226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0.790</a:t>
            </a:r>
            <a:endParaRPr lang="en-US" dirty="0"/>
          </a:p>
        </p:txBody>
      </p:sp>
      <p:sp>
        <p:nvSpPr>
          <p:cNvPr id="192" name="Shape 190"/>
          <p:cNvSpPr/>
          <p:nvPr/>
        </p:nvSpPr>
        <p:spPr>
          <a:xfrm>
            <a:off x="10566000" y="12511268"/>
            <a:ext cx="4399200" cy="6388731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13970">
            <a:solidFill>
              <a:srgbClr val="E11D48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195" name="Text 193"/>
          <p:cNvSpPr/>
          <p:nvPr/>
        </p:nvSpPr>
        <p:spPr>
          <a:xfrm>
            <a:off x="10728000" y="13222800"/>
            <a:ext cx="4075200" cy="30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i</a:t>
            </a:r>
            <a:endParaRPr lang="en-US" sz="1900" dirty="0"/>
          </a:p>
        </p:txBody>
      </p:sp>
      <p:sp>
        <p:nvSpPr>
          <p:cNvPr id="196" name="Shape 194"/>
          <p:cNvSpPr/>
          <p:nvPr/>
        </p:nvSpPr>
        <p:spPr>
          <a:xfrm>
            <a:off x="11539029" y="13108861"/>
            <a:ext cx="2736000" cy="205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7" name="Text 195"/>
          <p:cNvSpPr/>
          <p:nvPr/>
        </p:nvSpPr>
        <p:spPr>
          <a:xfrm>
            <a:off x="11494800" y="16451360"/>
            <a:ext cx="2736000" cy="259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INSET i</a:t>
            </a:r>
            <a:endParaRPr lang="en-US" sz="1800" dirty="0"/>
          </a:p>
        </p:txBody>
      </p:sp>
      <p:sp>
        <p:nvSpPr>
          <p:cNvPr id="201" name="Shape 199"/>
          <p:cNvSpPr/>
          <p:nvPr/>
        </p:nvSpPr>
        <p:spPr>
          <a:xfrm>
            <a:off x="15274800" y="12511268"/>
            <a:ext cx="4399200" cy="6388731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13970">
            <a:solidFill>
              <a:srgbClr val="E11D4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4" name="Text 202"/>
          <p:cNvSpPr/>
          <p:nvPr/>
        </p:nvSpPr>
        <p:spPr>
          <a:xfrm>
            <a:off x="15436800" y="13222800"/>
            <a:ext cx="4075200" cy="30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ii</a:t>
            </a:r>
            <a:endParaRPr lang="en-US" sz="1900" dirty="0"/>
          </a:p>
        </p:txBody>
      </p:sp>
      <p:sp>
        <p:nvSpPr>
          <p:cNvPr id="205" name="Shape 203"/>
          <p:cNvSpPr/>
          <p:nvPr/>
        </p:nvSpPr>
        <p:spPr>
          <a:xfrm>
            <a:off x="16163654" y="13364500"/>
            <a:ext cx="2736000" cy="205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6" name="Text 204"/>
          <p:cNvSpPr/>
          <p:nvPr/>
        </p:nvSpPr>
        <p:spPr>
          <a:xfrm>
            <a:off x="16142400" y="16423283"/>
            <a:ext cx="2736000" cy="259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INSET ii</a:t>
            </a:r>
            <a:endParaRPr lang="en-US" sz="1800" dirty="0"/>
          </a:p>
        </p:txBody>
      </p:sp>
      <p:sp>
        <p:nvSpPr>
          <p:cNvPr id="210" name="Shape 208"/>
          <p:cNvSpPr/>
          <p:nvPr/>
        </p:nvSpPr>
        <p:spPr>
          <a:xfrm>
            <a:off x="10566000" y="19026000"/>
            <a:ext cx="9108000" cy="4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1" name="Shape 209"/>
          <p:cNvSpPr/>
          <p:nvPr/>
        </p:nvSpPr>
        <p:spPr>
          <a:xfrm>
            <a:off x="10566000" y="19026000"/>
            <a:ext cx="50400" cy="45000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2" name="Text 210"/>
          <p:cNvSpPr/>
          <p:nvPr/>
        </p:nvSpPr>
        <p:spPr>
          <a:xfrm>
            <a:off x="10677600" y="19054800"/>
            <a:ext cx="8892000" cy="38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r>
              <a:rPr lang="en-US" sz="2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claim the motif explains discordance</a:t>
            </a:r>
            <a:endParaRPr lang="en-US" sz="2000" dirty="0"/>
          </a:p>
        </p:txBody>
      </p:sp>
      <p:sp>
        <p:nvSpPr>
          <p:cNvPr id="213" name="Shape 211"/>
          <p:cNvSpPr/>
          <p:nvPr/>
        </p:nvSpPr>
        <p:spPr>
          <a:xfrm>
            <a:off x="20232000" y="10296000"/>
            <a:ext cx="9504000" cy="9360000"/>
          </a:xfrm>
          <a:prstGeom prst="rect">
            <a:avLst/>
          </a:prstGeom>
          <a:solidFill>
            <a:srgbClr val="ECFDF3"/>
          </a:solidFill>
          <a:ln w="14605">
            <a:solidFill>
              <a:srgbClr val="16A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4" name="Shape 212"/>
          <p:cNvSpPr/>
          <p:nvPr/>
        </p:nvSpPr>
        <p:spPr>
          <a:xfrm>
            <a:off x="20232000" y="10296000"/>
            <a:ext cx="90000" cy="9360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5" name="Text 213"/>
          <p:cNvSpPr/>
          <p:nvPr/>
        </p:nvSpPr>
        <p:spPr>
          <a:xfrm>
            <a:off x="20264110" y="10356612"/>
            <a:ext cx="504000" cy="4670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4200" dirty="0"/>
          </a:p>
        </p:txBody>
      </p:sp>
      <p:sp>
        <p:nvSpPr>
          <p:cNvPr id="216" name="Text 214"/>
          <p:cNvSpPr/>
          <p:nvPr/>
        </p:nvSpPr>
        <p:spPr>
          <a:xfrm>
            <a:off x="20746800" y="10292557"/>
            <a:ext cx="5065200" cy="54970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motif</a:t>
            </a:r>
            <a:endParaRPr lang="en-US" sz="2400" dirty="0"/>
          </a:p>
        </p:txBody>
      </p:sp>
      <p:sp>
        <p:nvSpPr>
          <p:cNvPr id="217" name="Text 215"/>
          <p:cNvSpPr/>
          <p:nvPr/>
        </p:nvSpPr>
        <p:spPr>
          <a:xfrm>
            <a:off x="20751773" y="10633000"/>
            <a:ext cx="6344040" cy="78935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2800" b="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cyano-bearing environment contrast</a:t>
            </a:r>
            <a:endParaRPr lang="en-US" dirty="0"/>
          </a:p>
        </p:txBody>
      </p:sp>
      <p:sp>
        <p:nvSpPr>
          <p:cNvPr id="218" name="Shape 216"/>
          <p:cNvSpPr/>
          <p:nvPr/>
        </p:nvSpPr>
        <p:spPr>
          <a:xfrm>
            <a:off x="25703100" y="10359407"/>
            <a:ext cx="1280160" cy="493776"/>
          </a:xfrm>
          <a:prstGeom prst="roundRect">
            <a:avLst>
              <a:gd name="adj" fmla="val 35278"/>
            </a:avLst>
          </a:prstGeom>
          <a:solidFill>
            <a:srgbClr val="FFFFFF">
              <a:alpha val="96000"/>
            </a:srgbClr>
          </a:solidFill>
          <a:ln w="11430">
            <a:solidFill>
              <a:srgbClr val="16A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9" name="Text 217"/>
          <p:cNvSpPr/>
          <p:nvPr/>
        </p:nvSpPr>
        <p:spPr>
          <a:xfrm>
            <a:off x="25773425" y="10361745"/>
            <a:ext cx="1106750" cy="46598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sra</a:t>
            </a:r>
            <a:endParaRPr lang="en-US" sz="2000" dirty="0"/>
          </a:p>
        </p:txBody>
      </p:sp>
      <p:sp>
        <p:nvSpPr>
          <p:cNvPr id="220" name="Shape 218"/>
          <p:cNvSpPr/>
          <p:nvPr/>
        </p:nvSpPr>
        <p:spPr>
          <a:xfrm>
            <a:off x="27082089" y="10354274"/>
            <a:ext cx="2538000" cy="521208"/>
          </a:xfrm>
          <a:prstGeom prst="roundRect">
            <a:avLst>
              <a:gd name="adj" fmla="val 35278"/>
            </a:avLst>
          </a:prstGeom>
          <a:solidFill>
            <a:srgbClr val="FFFFFF">
              <a:alpha val="96000"/>
            </a:srgbClr>
          </a:solidFill>
          <a:ln w="11430">
            <a:solidFill>
              <a:srgbClr val="16A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1" name="Text 219"/>
          <p:cNvSpPr/>
          <p:nvPr/>
        </p:nvSpPr>
        <p:spPr>
          <a:xfrm>
            <a:off x="27123372" y="10365074"/>
            <a:ext cx="2483190" cy="510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</a:t>
            </a:r>
            <a:endParaRPr lang="en-US" sz="2000" dirty="0"/>
          </a:p>
        </p:txBody>
      </p:sp>
      <p:sp>
        <p:nvSpPr>
          <p:cNvPr id="222" name="Shape 220"/>
          <p:cNvSpPr/>
          <p:nvPr/>
        </p:nvSpPr>
        <p:spPr>
          <a:xfrm>
            <a:off x="20458623" y="11463004"/>
            <a:ext cx="2124000" cy="850392"/>
          </a:xfrm>
          <a:prstGeom prst="rect">
            <a:avLst/>
          </a:prstGeom>
          <a:solidFill>
            <a:srgbClr val="FFFFFF"/>
          </a:solidFill>
          <a:ln w="11430">
            <a:solidFill>
              <a:srgbClr val="16A34A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223" name="Text 221"/>
          <p:cNvSpPr/>
          <p:nvPr/>
        </p:nvSpPr>
        <p:spPr>
          <a:xfrm>
            <a:off x="20458623" y="11500361"/>
            <a:ext cx="2165160" cy="37907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MED. |</a:t>
            </a:r>
            <a:r>
              <a:rPr lang="el-GR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</a:t>
            </a:r>
            <a:r>
              <a:rPr lang="en-US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ads.|</a:t>
            </a:r>
            <a:endParaRPr lang="en-US" sz="1400" dirty="0"/>
          </a:p>
        </p:txBody>
      </p:sp>
      <p:sp>
        <p:nvSpPr>
          <p:cNvPr id="224" name="Text 222"/>
          <p:cNvSpPr/>
          <p:nvPr/>
        </p:nvSpPr>
        <p:spPr>
          <a:xfrm>
            <a:off x="20428263" y="11910828"/>
            <a:ext cx="2165160" cy="37860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0.0596</a:t>
            </a:r>
            <a:endParaRPr lang="en-US" sz="2000" dirty="0"/>
          </a:p>
        </p:txBody>
      </p:sp>
      <p:sp>
        <p:nvSpPr>
          <p:cNvPr id="225" name="Shape 223"/>
          <p:cNvSpPr/>
          <p:nvPr/>
        </p:nvSpPr>
        <p:spPr>
          <a:xfrm>
            <a:off x="22773423" y="11463004"/>
            <a:ext cx="2124000" cy="850392"/>
          </a:xfrm>
          <a:prstGeom prst="rect">
            <a:avLst/>
          </a:prstGeom>
          <a:solidFill>
            <a:srgbClr val="FFFFFF"/>
          </a:solidFill>
          <a:ln w="11430">
            <a:solidFill>
              <a:srgbClr val="16A34A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226" name="Text 224"/>
          <p:cNvSpPr/>
          <p:nvPr/>
        </p:nvSpPr>
        <p:spPr>
          <a:xfrm>
            <a:off x="22773106" y="11501141"/>
            <a:ext cx="2165477" cy="38618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 CONCORD.</a:t>
            </a:r>
            <a:endParaRPr lang="en-US" sz="1400" dirty="0"/>
          </a:p>
        </p:txBody>
      </p:sp>
      <p:sp>
        <p:nvSpPr>
          <p:cNvPr id="227" name="Text 225"/>
          <p:cNvSpPr/>
          <p:nvPr/>
        </p:nvSpPr>
        <p:spPr>
          <a:xfrm>
            <a:off x="22773423" y="11935590"/>
            <a:ext cx="2165160" cy="37502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0.80</a:t>
            </a:r>
            <a:endParaRPr lang="en-US" sz="2000" dirty="0"/>
          </a:p>
        </p:txBody>
      </p:sp>
      <p:sp>
        <p:nvSpPr>
          <p:cNvPr id="228" name="Shape 226"/>
          <p:cNvSpPr/>
          <p:nvPr/>
        </p:nvSpPr>
        <p:spPr>
          <a:xfrm>
            <a:off x="25088223" y="11463004"/>
            <a:ext cx="2124000" cy="850392"/>
          </a:xfrm>
          <a:prstGeom prst="rect">
            <a:avLst/>
          </a:prstGeom>
          <a:solidFill>
            <a:srgbClr val="FFFFFF"/>
          </a:solidFill>
          <a:ln w="11430">
            <a:solidFill>
              <a:srgbClr val="16A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9" name="Text 227"/>
          <p:cNvSpPr/>
          <p:nvPr/>
        </p:nvSpPr>
        <p:spPr>
          <a:xfrm>
            <a:off x="25088223" y="11497110"/>
            <a:ext cx="2165160" cy="37907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SEL. CONCORD.</a:t>
            </a:r>
            <a:endParaRPr lang="en-US" sz="1400" dirty="0"/>
          </a:p>
        </p:txBody>
      </p:sp>
      <p:sp>
        <p:nvSpPr>
          <p:cNvPr id="230" name="Text 228"/>
          <p:cNvSpPr/>
          <p:nvPr/>
        </p:nvSpPr>
        <p:spPr>
          <a:xfrm>
            <a:off x="25088223" y="11935589"/>
            <a:ext cx="2165160" cy="34206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dirty="0"/>
          </a:p>
        </p:txBody>
      </p:sp>
      <p:sp>
        <p:nvSpPr>
          <p:cNvPr id="231" name="Shape 229"/>
          <p:cNvSpPr/>
          <p:nvPr/>
        </p:nvSpPr>
        <p:spPr>
          <a:xfrm>
            <a:off x="27403023" y="11463004"/>
            <a:ext cx="2124000" cy="850392"/>
          </a:xfrm>
          <a:prstGeom prst="rect">
            <a:avLst/>
          </a:prstGeom>
          <a:solidFill>
            <a:srgbClr val="FFFFFF"/>
          </a:solidFill>
          <a:ln w="11430">
            <a:solidFill>
              <a:srgbClr val="16A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2" name="Text 230"/>
          <p:cNvSpPr/>
          <p:nvPr/>
        </p:nvSpPr>
        <p:spPr>
          <a:xfrm>
            <a:off x="27402389" y="11501141"/>
            <a:ext cx="2165794" cy="38618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GEO./CAL.</a:t>
            </a:r>
            <a:endParaRPr lang="en-US" sz="1400" dirty="0"/>
          </a:p>
        </p:txBody>
      </p:sp>
      <p:sp>
        <p:nvSpPr>
          <p:cNvPr id="233" name="Text 231"/>
          <p:cNvSpPr/>
          <p:nvPr/>
        </p:nvSpPr>
        <p:spPr>
          <a:xfrm>
            <a:off x="27403023" y="11978640"/>
            <a:ext cx="2165160" cy="335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0.449</a:t>
            </a:r>
            <a:endParaRPr lang="en-US" dirty="0"/>
          </a:p>
        </p:txBody>
      </p:sp>
      <p:sp>
        <p:nvSpPr>
          <p:cNvPr id="234" name="Shape 232"/>
          <p:cNvSpPr/>
          <p:nvPr/>
        </p:nvSpPr>
        <p:spPr>
          <a:xfrm>
            <a:off x="20430000" y="12511268"/>
            <a:ext cx="4399200" cy="6388731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13970">
            <a:solidFill>
              <a:srgbClr val="16A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7" name="Text 235"/>
          <p:cNvSpPr/>
          <p:nvPr/>
        </p:nvSpPr>
        <p:spPr>
          <a:xfrm>
            <a:off x="20592000" y="13222800"/>
            <a:ext cx="4075200" cy="30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i</a:t>
            </a:r>
            <a:endParaRPr lang="en-US" sz="1900" dirty="0"/>
          </a:p>
        </p:txBody>
      </p:sp>
      <p:sp>
        <p:nvSpPr>
          <p:cNvPr id="238" name="Shape 236"/>
          <p:cNvSpPr/>
          <p:nvPr/>
        </p:nvSpPr>
        <p:spPr>
          <a:xfrm>
            <a:off x="21295954" y="13246391"/>
            <a:ext cx="2736000" cy="205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9" name="Text 237"/>
          <p:cNvSpPr/>
          <p:nvPr/>
        </p:nvSpPr>
        <p:spPr>
          <a:xfrm>
            <a:off x="21337488" y="16412400"/>
            <a:ext cx="2736000" cy="259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INSET i</a:t>
            </a:r>
            <a:endParaRPr lang="en-US" sz="1800" dirty="0"/>
          </a:p>
        </p:txBody>
      </p:sp>
      <p:sp>
        <p:nvSpPr>
          <p:cNvPr id="243" name="Shape 241"/>
          <p:cNvSpPr/>
          <p:nvPr/>
        </p:nvSpPr>
        <p:spPr>
          <a:xfrm>
            <a:off x="25138800" y="12490616"/>
            <a:ext cx="4399200" cy="6409384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13970">
            <a:solidFill>
              <a:srgbClr val="16A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6" name="Text 244"/>
          <p:cNvSpPr/>
          <p:nvPr/>
        </p:nvSpPr>
        <p:spPr>
          <a:xfrm>
            <a:off x="25300800" y="13222800"/>
            <a:ext cx="4075200" cy="30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ii</a:t>
            </a:r>
            <a:endParaRPr lang="en-US" sz="1900" dirty="0"/>
          </a:p>
        </p:txBody>
      </p:sp>
      <p:sp>
        <p:nvSpPr>
          <p:cNvPr id="247" name="Shape 245"/>
          <p:cNvSpPr/>
          <p:nvPr/>
        </p:nvSpPr>
        <p:spPr>
          <a:xfrm>
            <a:off x="25891200" y="13090696"/>
            <a:ext cx="2736000" cy="205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8" name="Text 246"/>
          <p:cNvSpPr/>
          <p:nvPr/>
        </p:nvSpPr>
        <p:spPr>
          <a:xfrm>
            <a:off x="25964680" y="16412400"/>
            <a:ext cx="2736000" cy="259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INSET ii</a:t>
            </a:r>
            <a:endParaRPr lang="en-US" sz="1800" dirty="0"/>
          </a:p>
        </p:txBody>
      </p:sp>
      <p:sp>
        <p:nvSpPr>
          <p:cNvPr id="252" name="Shape 250"/>
          <p:cNvSpPr/>
          <p:nvPr/>
        </p:nvSpPr>
        <p:spPr>
          <a:xfrm>
            <a:off x="20430000" y="19026000"/>
            <a:ext cx="9108000" cy="4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3" name="Shape 251"/>
          <p:cNvSpPr/>
          <p:nvPr/>
        </p:nvSpPr>
        <p:spPr>
          <a:xfrm>
            <a:off x="20430000" y="19026000"/>
            <a:ext cx="50400" cy="450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4" name="Text 252"/>
          <p:cNvSpPr/>
          <p:nvPr/>
        </p:nvSpPr>
        <p:spPr>
          <a:xfrm>
            <a:off x="20541600" y="19054800"/>
            <a:ext cx="8892000" cy="38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r>
              <a:rPr lang="en-US" sz="2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· no class-wide causal claim</a:t>
            </a:r>
            <a:endParaRPr lang="en-US" sz="2000" dirty="0"/>
          </a:p>
        </p:txBody>
      </p: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013AED98-EE27-4FA8-AB0D-B262B7014395}"/>
              </a:ext>
            </a:extLst>
          </p:cNvPr>
          <p:cNvGrpSpPr/>
          <p:nvPr/>
        </p:nvGrpSpPr>
        <p:grpSpPr>
          <a:xfrm>
            <a:off x="693940" y="2742139"/>
            <a:ext cx="4364060" cy="6232400"/>
            <a:chOff x="693940" y="1861200"/>
            <a:chExt cx="4364060" cy="6232400"/>
          </a:xfrm>
        </p:grpSpPr>
        <p:sp>
          <p:nvSpPr>
            <p:cNvPr id="25" name="Text 23"/>
            <p:cNvSpPr/>
            <p:nvPr/>
          </p:nvSpPr>
          <p:spPr>
            <a:xfrm>
              <a:off x="745200" y="1861200"/>
              <a:ext cx="4312800" cy="21600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2100" b="1" dirty="0">
                  <a:solidFill>
                    <a:srgbClr val="2166F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 · endpoint</a:t>
              </a:r>
              <a:endParaRPr lang="en-US" sz="21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873000" y="2152800"/>
              <a:ext cx="4066190" cy="2843792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2166F3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Shape 28"/>
            <p:cNvSpPr/>
            <p:nvPr/>
          </p:nvSpPr>
          <p:spPr>
            <a:xfrm>
              <a:off x="2901600" y="5043600"/>
              <a:ext cx="0" cy="612000"/>
            </a:xfrm>
            <a:prstGeom prst="line">
              <a:avLst/>
            </a:prstGeom>
            <a:noFill/>
            <a:ln w="33020">
              <a:solidFill>
                <a:srgbClr val="2166F3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Text 30"/>
            <p:cNvSpPr/>
            <p:nvPr/>
          </p:nvSpPr>
          <p:spPr>
            <a:xfrm>
              <a:off x="693940" y="7576261"/>
              <a:ext cx="4284000" cy="517339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algn="ctr"/>
              <a:r>
                <a:rPr lang="en-US" sz="2400" b="1" dirty="0">
                  <a:solidFill>
                    <a:srgbClr val="11182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C₆NO₆ + 2 Zn anchors</a:t>
              </a:r>
              <a:endParaRPr lang="en-US" sz="2000" b="1" dirty="0"/>
            </a:p>
          </p:txBody>
        </p:sp>
        <p:pic>
          <p:nvPicPr>
            <p:cNvPr id="255" name="Picture 254" descr="A_i_whole_3200x2400_600dpi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9600" y="2178000"/>
              <a:ext cx="3744000" cy="2808000"/>
            </a:xfrm>
            <a:prstGeom prst="rect">
              <a:avLst/>
            </a:prstGeom>
            <a:ln w="15875">
              <a:solidFill>
                <a:srgbClr val="2166F3"/>
              </a:solidFill>
            </a:ln>
          </p:spPr>
        </p:pic>
        <p:pic>
          <p:nvPicPr>
            <p:cNvPr id="257" name="Picture 256" descr="A_i_inset_TIGHT_3200x2400_600dpi.png"/>
            <p:cNvPicPr>
              <a:picLocks noChangeAspect="1"/>
            </p:cNvPicPr>
            <p:nvPr/>
          </p:nvPicPr>
          <p:blipFill rotWithShape="1">
            <a:blip r:embed="rId4"/>
            <a:srcRect t="13324" b="15562"/>
            <a:stretch/>
          </p:blipFill>
          <p:spPr>
            <a:xfrm>
              <a:off x="1533600" y="5997392"/>
              <a:ext cx="2736000" cy="1459269"/>
            </a:xfrm>
            <a:prstGeom prst="rect">
              <a:avLst/>
            </a:prstGeom>
            <a:ln w="15875">
              <a:solidFill>
                <a:srgbClr val="2166F3"/>
              </a:solidFill>
            </a:ln>
          </p:spPr>
        </p:pic>
      </p:grpSp>
      <p:grpSp>
        <p:nvGrpSpPr>
          <p:cNvPr id="280" name="Group 279">
            <a:extLst>
              <a:ext uri="{FF2B5EF4-FFF2-40B4-BE49-F238E27FC236}">
                <a16:creationId xmlns:a16="http://schemas.microsoft.com/office/drawing/2014/main" id="{A2D72DF1-1E89-48C2-BE62-A6BF8DBE9AF5}"/>
              </a:ext>
            </a:extLst>
          </p:cNvPr>
          <p:cNvGrpSpPr/>
          <p:nvPr/>
        </p:nvGrpSpPr>
        <p:grpSpPr>
          <a:xfrm>
            <a:off x="5420740" y="2719839"/>
            <a:ext cx="4346060" cy="6300000"/>
            <a:chOff x="5420740" y="1861200"/>
            <a:chExt cx="4346060" cy="6300000"/>
          </a:xfrm>
        </p:grpSpPr>
        <p:sp>
          <p:nvSpPr>
            <p:cNvPr id="34" name="Text 32"/>
            <p:cNvSpPr/>
            <p:nvPr/>
          </p:nvSpPr>
          <p:spPr>
            <a:xfrm>
              <a:off x="5454000" y="1861200"/>
              <a:ext cx="4312800" cy="21600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2100" b="1" dirty="0">
                  <a:solidFill>
                    <a:srgbClr val="2166F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ii · endpoint</a:t>
              </a:r>
              <a:endParaRPr lang="en-US" sz="210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5563219" y="2163599"/>
              <a:ext cx="4092408" cy="2834961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2166F3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Shape 37"/>
            <p:cNvSpPr/>
            <p:nvPr/>
          </p:nvSpPr>
          <p:spPr>
            <a:xfrm>
              <a:off x="7610400" y="5043600"/>
              <a:ext cx="0" cy="612000"/>
            </a:xfrm>
            <a:prstGeom prst="line">
              <a:avLst/>
            </a:prstGeom>
            <a:noFill/>
            <a:ln w="33020">
              <a:solidFill>
                <a:srgbClr val="2166F3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Text 39"/>
            <p:cNvSpPr/>
            <p:nvPr/>
          </p:nvSpPr>
          <p:spPr>
            <a:xfrm>
              <a:off x="5420740" y="7568961"/>
              <a:ext cx="4255200" cy="592239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algn="ctr"/>
              <a:r>
                <a:rPr lang="en-US" sz="2400" b="1" dirty="0">
                  <a:solidFill>
                    <a:srgbClr val="11182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C₆N₄O₁₂ + 2 Zn anchors</a:t>
              </a:r>
              <a:endParaRPr lang="en-US" sz="2000" b="1" dirty="0"/>
            </a:p>
          </p:txBody>
        </p:sp>
        <p:pic>
          <p:nvPicPr>
            <p:cNvPr id="256" name="Picture 255" descr="A_ii_whole_3200x2400_600dpi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38400" y="2178000"/>
              <a:ext cx="3744000" cy="2808000"/>
            </a:xfrm>
            <a:prstGeom prst="rect">
              <a:avLst/>
            </a:prstGeom>
            <a:ln w="15875">
              <a:solidFill>
                <a:srgbClr val="2166F3"/>
              </a:solidFill>
            </a:ln>
          </p:spPr>
        </p:pic>
        <p:pic>
          <p:nvPicPr>
            <p:cNvPr id="258" name="Picture 257" descr="A_ii_inset_TIGHT_3200x2400_600dpi.png"/>
            <p:cNvPicPr>
              <a:picLocks noChangeAspect="1"/>
            </p:cNvPicPr>
            <p:nvPr/>
          </p:nvPicPr>
          <p:blipFill rotWithShape="1">
            <a:blip r:embed="rId6"/>
            <a:srcRect t="13278" b="14476"/>
            <a:stretch/>
          </p:blipFill>
          <p:spPr>
            <a:xfrm>
              <a:off x="6297340" y="6006606"/>
              <a:ext cx="2736000" cy="1482499"/>
            </a:xfrm>
            <a:prstGeom prst="rect">
              <a:avLst/>
            </a:prstGeom>
            <a:ln w="15875">
              <a:solidFill>
                <a:srgbClr val="2166F3"/>
              </a:solidFill>
            </a:ln>
          </p:spPr>
        </p:pic>
      </p:grp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4EC9A916-D8B5-47AA-A4A8-925EB59DBAD2}"/>
              </a:ext>
            </a:extLst>
          </p:cNvPr>
          <p:cNvGrpSpPr/>
          <p:nvPr/>
        </p:nvGrpSpPr>
        <p:grpSpPr>
          <a:xfrm>
            <a:off x="10623600" y="2655086"/>
            <a:ext cx="4372200" cy="6415114"/>
            <a:chOff x="10609200" y="1778486"/>
            <a:chExt cx="4372200" cy="6415114"/>
          </a:xfrm>
        </p:grpSpPr>
        <p:sp>
          <p:nvSpPr>
            <p:cNvPr id="67" name="Text 65"/>
            <p:cNvSpPr/>
            <p:nvPr/>
          </p:nvSpPr>
          <p:spPr>
            <a:xfrm>
              <a:off x="10609200" y="1778486"/>
              <a:ext cx="4312800" cy="36360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2100" b="1" dirty="0">
                  <a:solidFill>
                    <a:srgbClr val="008C8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 · endpoint</a:t>
              </a:r>
              <a:endParaRPr lang="en-US" sz="1700" dirty="0"/>
            </a:p>
          </p:txBody>
        </p:sp>
        <p:sp>
          <p:nvSpPr>
            <p:cNvPr id="68" name="Shape 66"/>
            <p:cNvSpPr/>
            <p:nvPr/>
          </p:nvSpPr>
          <p:spPr>
            <a:xfrm>
              <a:off x="10712662" y="2163600"/>
              <a:ext cx="4081024" cy="2841600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008C8C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Shape 70"/>
            <p:cNvSpPr/>
            <p:nvPr/>
          </p:nvSpPr>
          <p:spPr>
            <a:xfrm>
              <a:off x="12765600" y="5043600"/>
              <a:ext cx="0" cy="612000"/>
            </a:xfrm>
            <a:prstGeom prst="line">
              <a:avLst/>
            </a:prstGeom>
            <a:noFill/>
            <a:ln w="33020">
              <a:solidFill>
                <a:srgbClr val="008C8C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Text 72"/>
            <p:cNvSpPr/>
            <p:nvPr/>
          </p:nvSpPr>
          <p:spPr>
            <a:xfrm>
              <a:off x="10751400" y="7504201"/>
              <a:ext cx="4230000" cy="689399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11182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Zn local node</a:t>
              </a:r>
              <a:endParaRPr lang="en-US" sz="2000" b="1" dirty="0"/>
            </a:p>
          </p:txBody>
        </p:sp>
        <p:pic>
          <p:nvPicPr>
            <p:cNvPr id="259" name="Picture 258" descr="B_i_whole_3200x2400_600dpi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893600" y="2178000"/>
              <a:ext cx="3744000" cy="2808000"/>
            </a:xfrm>
            <a:prstGeom prst="rect">
              <a:avLst/>
            </a:prstGeom>
            <a:ln w="15875">
              <a:solidFill>
                <a:srgbClr val="008C8C"/>
              </a:solidFill>
            </a:ln>
          </p:spPr>
        </p:pic>
        <p:pic>
          <p:nvPicPr>
            <p:cNvPr id="261" name="Picture 260" descr="B_i_inset_TIGHT_3200x2400_600dpi.png"/>
            <p:cNvPicPr>
              <a:picLocks noChangeAspect="1"/>
            </p:cNvPicPr>
            <p:nvPr/>
          </p:nvPicPr>
          <p:blipFill rotWithShape="1">
            <a:blip r:embed="rId8"/>
            <a:srcRect t="12402" b="15351"/>
            <a:stretch/>
          </p:blipFill>
          <p:spPr>
            <a:xfrm>
              <a:off x="11397600" y="5978501"/>
              <a:ext cx="2736000" cy="1482500"/>
            </a:xfrm>
            <a:prstGeom prst="rect">
              <a:avLst/>
            </a:prstGeom>
            <a:ln w="15875">
              <a:solidFill>
                <a:srgbClr val="008C8C"/>
              </a:solidFill>
            </a:ln>
          </p:spPr>
        </p:pic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B545A90F-9A33-40DB-BF6C-CEF1E948585C}"/>
              </a:ext>
            </a:extLst>
          </p:cNvPr>
          <p:cNvGrpSpPr/>
          <p:nvPr/>
        </p:nvGrpSpPr>
        <p:grpSpPr>
          <a:xfrm>
            <a:off x="15328543" y="2642700"/>
            <a:ext cx="4346401" cy="6325800"/>
            <a:chOff x="15338143" y="1804500"/>
            <a:chExt cx="4346401" cy="6325800"/>
          </a:xfrm>
        </p:grpSpPr>
        <p:sp>
          <p:nvSpPr>
            <p:cNvPr id="76" name="Text 74"/>
            <p:cNvSpPr/>
            <p:nvPr/>
          </p:nvSpPr>
          <p:spPr>
            <a:xfrm>
              <a:off x="15338143" y="1804500"/>
              <a:ext cx="4346401" cy="38100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2100" b="1" dirty="0">
                  <a:solidFill>
                    <a:srgbClr val="008C8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ii · endpoint</a:t>
              </a:r>
              <a:endParaRPr lang="en-US" sz="1700" dirty="0"/>
            </a:p>
          </p:txBody>
        </p:sp>
        <p:sp>
          <p:nvSpPr>
            <p:cNvPr id="77" name="Shape 75"/>
            <p:cNvSpPr/>
            <p:nvPr/>
          </p:nvSpPr>
          <p:spPr>
            <a:xfrm>
              <a:off x="15436800" y="2199723"/>
              <a:ext cx="4075200" cy="2831127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008C8C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Shape 79"/>
            <p:cNvSpPr/>
            <p:nvPr/>
          </p:nvSpPr>
          <p:spPr>
            <a:xfrm>
              <a:off x="17474400" y="5043600"/>
              <a:ext cx="0" cy="612000"/>
            </a:xfrm>
            <a:prstGeom prst="line">
              <a:avLst/>
            </a:prstGeom>
            <a:noFill/>
            <a:ln w="33020">
              <a:solidFill>
                <a:srgbClr val="008C8C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Text 81"/>
            <p:cNvSpPr/>
            <p:nvPr/>
          </p:nvSpPr>
          <p:spPr>
            <a:xfrm>
              <a:off x="15424800" y="7601700"/>
              <a:ext cx="4177200" cy="52860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11182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Cu local node</a:t>
              </a:r>
              <a:endParaRPr lang="en-US" sz="2000" b="1" dirty="0"/>
            </a:p>
          </p:txBody>
        </p:sp>
        <p:pic>
          <p:nvPicPr>
            <p:cNvPr id="260" name="Picture 259" descr="B_ii_whole_3200x2400_600dpi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5607007" y="2210160"/>
              <a:ext cx="3744000" cy="2808000"/>
            </a:xfrm>
            <a:prstGeom prst="rect">
              <a:avLst/>
            </a:prstGeom>
            <a:ln w="15875">
              <a:solidFill>
                <a:srgbClr val="008C8C"/>
              </a:solidFill>
            </a:ln>
          </p:spPr>
        </p:pic>
        <p:pic>
          <p:nvPicPr>
            <p:cNvPr id="262" name="Picture 261" descr="B_ii_inset_TIGHT_3200x2400_600dpi.png"/>
            <p:cNvPicPr>
              <a:picLocks noChangeAspect="1"/>
            </p:cNvPicPr>
            <p:nvPr/>
          </p:nvPicPr>
          <p:blipFill rotWithShape="1">
            <a:blip r:embed="rId10"/>
            <a:srcRect t="14274" b="13479"/>
            <a:stretch/>
          </p:blipFill>
          <p:spPr>
            <a:xfrm>
              <a:off x="16106400" y="6016901"/>
              <a:ext cx="2736000" cy="1482500"/>
            </a:xfrm>
            <a:prstGeom prst="rect">
              <a:avLst/>
            </a:prstGeom>
            <a:ln w="15875">
              <a:solidFill>
                <a:srgbClr val="008C8C"/>
              </a:solidFill>
            </a:ln>
          </p:spPr>
        </p:pic>
      </p:grp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109D4995-69EF-4ADA-AFED-CB51DFD692F4}"/>
              </a:ext>
            </a:extLst>
          </p:cNvPr>
          <p:cNvGrpSpPr/>
          <p:nvPr/>
        </p:nvGrpSpPr>
        <p:grpSpPr>
          <a:xfrm>
            <a:off x="20480400" y="2677500"/>
            <a:ext cx="4357800" cy="6309940"/>
            <a:chOff x="20480400" y="1811169"/>
            <a:chExt cx="4357800" cy="6309940"/>
          </a:xfrm>
        </p:grpSpPr>
        <p:sp>
          <p:nvSpPr>
            <p:cNvPr id="109" name="Text 107"/>
            <p:cNvSpPr/>
            <p:nvPr/>
          </p:nvSpPr>
          <p:spPr>
            <a:xfrm>
              <a:off x="20525400" y="1811169"/>
              <a:ext cx="4312800" cy="335343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2100" b="1" dirty="0">
                  <a:solidFill>
                    <a:srgbClr val="F9731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 · endpoint</a:t>
              </a:r>
              <a:endParaRPr lang="en-US" sz="1700" dirty="0"/>
            </a:p>
          </p:txBody>
        </p:sp>
        <p:sp>
          <p:nvSpPr>
            <p:cNvPr id="110" name="Shape 108"/>
            <p:cNvSpPr/>
            <p:nvPr/>
          </p:nvSpPr>
          <p:spPr>
            <a:xfrm>
              <a:off x="20592000" y="2163599"/>
              <a:ext cx="4075196" cy="2832669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F97316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Shape 112"/>
            <p:cNvSpPr/>
            <p:nvPr/>
          </p:nvSpPr>
          <p:spPr>
            <a:xfrm>
              <a:off x="22629600" y="5043600"/>
              <a:ext cx="0" cy="612000"/>
            </a:xfrm>
            <a:prstGeom prst="line">
              <a:avLst/>
            </a:prstGeom>
            <a:noFill/>
            <a:ln w="33020">
              <a:solidFill>
                <a:srgbClr val="F97316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Text 114"/>
            <p:cNvSpPr/>
            <p:nvPr/>
          </p:nvSpPr>
          <p:spPr>
            <a:xfrm>
              <a:off x="20480400" y="7590869"/>
              <a:ext cx="4276800" cy="53024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11182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ZnC₄O₈ · 2.024–2.029 Å</a:t>
              </a:r>
              <a:endParaRPr lang="en-US" sz="2000" b="1" dirty="0"/>
            </a:p>
          </p:txBody>
        </p:sp>
        <p:pic>
          <p:nvPicPr>
            <p:cNvPr id="263" name="Picture 262" descr="C_i_whole_3200x2400_600dpi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0757600" y="2178000"/>
              <a:ext cx="3744000" cy="2808000"/>
            </a:xfrm>
            <a:prstGeom prst="rect">
              <a:avLst/>
            </a:prstGeom>
            <a:ln w="15875">
              <a:solidFill>
                <a:srgbClr val="F97316"/>
              </a:solidFill>
            </a:ln>
          </p:spPr>
        </p:pic>
        <p:pic>
          <p:nvPicPr>
            <p:cNvPr id="265" name="Picture 264" descr="C_i_inset_TIGHT_3200x2400_600dpi.png"/>
            <p:cNvPicPr>
              <a:picLocks noChangeAspect="1"/>
            </p:cNvPicPr>
            <p:nvPr/>
          </p:nvPicPr>
          <p:blipFill rotWithShape="1">
            <a:blip r:embed="rId12"/>
            <a:srcRect t="12903" b="14850"/>
            <a:stretch/>
          </p:blipFill>
          <p:spPr>
            <a:xfrm>
              <a:off x="21261600" y="5988770"/>
              <a:ext cx="2736000" cy="1482499"/>
            </a:xfrm>
            <a:prstGeom prst="rect">
              <a:avLst/>
            </a:prstGeom>
            <a:ln w="15875">
              <a:solidFill>
                <a:srgbClr val="F97316"/>
              </a:solidFill>
            </a:ln>
          </p:spPr>
        </p:pic>
      </p:grpSp>
      <p:grpSp>
        <p:nvGrpSpPr>
          <p:cNvPr id="284" name="Group 283">
            <a:extLst>
              <a:ext uri="{FF2B5EF4-FFF2-40B4-BE49-F238E27FC236}">
                <a16:creationId xmlns:a16="http://schemas.microsoft.com/office/drawing/2014/main" id="{764A8F63-B0CC-4125-8338-3D7628F5C9EE}"/>
              </a:ext>
            </a:extLst>
          </p:cNvPr>
          <p:cNvGrpSpPr/>
          <p:nvPr/>
        </p:nvGrpSpPr>
        <p:grpSpPr>
          <a:xfrm>
            <a:off x="25189200" y="2682000"/>
            <a:ext cx="4320000" cy="6321250"/>
            <a:chOff x="25189200" y="1825200"/>
            <a:chExt cx="4320000" cy="6321250"/>
          </a:xfrm>
        </p:grpSpPr>
        <p:sp>
          <p:nvSpPr>
            <p:cNvPr id="118" name="Text 116"/>
            <p:cNvSpPr/>
            <p:nvPr/>
          </p:nvSpPr>
          <p:spPr>
            <a:xfrm>
              <a:off x="25203600" y="1825200"/>
              <a:ext cx="4305600" cy="32760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2100" b="1" dirty="0">
                  <a:solidFill>
                    <a:srgbClr val="F9731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ii · endpoint</a:t>
              </a:r>
              <a:endParaRPr lang="en-US" sz="1700" dirty="0"/>
            </a:p>
          </p:txBody>
        </p:sp>
        <p:sp>
          <p:nvSpPr>
            <p:cNvPr id="119" name="Shape 117"/>
            <p:cNvSpPr/>
            <p:nvPr/>
          </p:nvSpPr>
          <p:spPr>
            <a:xfrm>
              <a:off x="25300800" y="2166899"/>
              <a:ext cx="4132778" cy="2828631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F97316"/>
              </a:solidFill>
              <a:prstDash val="solid"/>
            </a:ln>
          </p:spPr>
          <p:txBody>
            <a:bodyPr/>
            <a:lstStyle/>
            <a:p>
              <a:endParaRPr dirty="0"/>
            </a:p>
          </p:txBody>
        </p:sp>
        <p:sp>
          <p:nvSpPr>
            <p:cNvPr id="123" name="Shape 121"/>
            <p:cNvSpPr/>
            <p:nvPr/>
          </p:nvSpPr>
          <p:spPr>
            <a:xfrm>
              <a:off x="27338400" y="5043600"/>
              <a:ext cx="0" cy="612000"/>
            </a:xfrm>
            <a:prstGeom prst="line">
              <a:avLst/>
            </a:prstGeom>
            <a:noFill/>
            <a:ln w="33020">
              <a:solidFill>
                <a:srgbClr val="F97316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Text 123"/>
            <p:cNvSpPr/>
            <p:nvPr/>
          </p:nvSpPr>
          <p:spPr>
            <a:xfrm>
              <a:off x="25189200" y="7568350"/>
              <a:ext cx="4255200" cy="57810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11182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CuC₄O₈ · 1.951–1.956 Å</a:t>
              </a:r>
              <a:endParaRPr lang="en-US" sz="2000" b="1" dirty="0"/>
            </a:p>
          </p:txBody>
        </p:sp>
        <p:pic>
          <p:nvPicPr>
            <p:cNvPr id="264" name="Picture 263" descr="C_ii_whole_3200x2400_600dpi.pn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5466400" y="2178000"/>
              <a:ext cx="3744000" cy="2808000"/>
            </a:xfrm>
            <a:prstGeom prst="rect">
              <a:avLst/>
            </a:prstGeom>
            <a:ln w="15875">
              <a:solidFill>
                <a:srgbClr val="F97316"/>
              </a:solidFill>
            </a:ln>
          </p:spPr>
        </p:pic>
        <p:pic>
          <p:nvPicPr>
            <p:cNvPr id="266" name="Picture 265" descr="C_ii_inset_TIGHT_3200x2400_600dpi.png"/>
            <p:cNvPicPr>
              <a:picLocks noChangeAspect="1"/>
            </p:cNvPicPr>
            <p:nvPr/>
          </p:nvPicPr>
          <p:blipFill rotWithShape="1">
            <a:blip r:embed="rId14"/>
            <a:srcRect t="13367" b="14387"/>
            <a:stretch/>
          </p:blipFill>
          <p:spPr>
            <a:xfrm>
              <a:off x="25970400" y="5998300"/>
              <a:ext cx="2736000" cy="1482499"/>
            </a:xfrm>
            <a:prstGeom prst="rect">
              <a:avLst/>
            </a:prstGeom>
            <a:ln w="15875">
              <a:solidFill>
                <a:srgbClr val="F97316"/>
              </a:solidFill>
            </a:ln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845B559-EE3E-4177-AD67-612ECEE332EE}"/>
              </a:ext>
            </a:extLst>
          </p:cNvPr>
          <p:cNvGrpSpPr/>
          <p:nvPr/>
        </p:nvGrpSpPr>
        <p:grpSpPr>
          <a:xfrm>
            <a:off x="714600" y="12490616"/>
            <a:ext cx="4374000" cy="6149940"/>
            <a:chOff x="700200" y="11571966"/>
            <a:chExt cx="4374000" cy="6149940"/>
          </a:xfrm>
        </p:grpSpPr>
        <p:sp>
          <p:nvSpPr>
            <p:cNvPr id="151" name="Text 149"/>
            <p:cNvSpPr/>
            <p:nvPr/>
          </p:nvSpPr>
          <p:spPr>
            <a:xfrm>
              <a:off x="700200" y="11571966"/>
              <a:ext cx="4374000" cy="366581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2100" b="1" dirty="0">
                  <a:solidFill>
                    <a:srgbClr val="7C3AE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 · endpoint</a:t>
              </a:r>
              <a:endParaRPr lang="en-US" sz="2100" dirty="0"/>
            </a:p>
          </p:txBody>
        </p:sp>
        <p:sp>
          <p:nvSpPr>
            <p:cNvPr id="152" name="Shape 150"/>
            <p:cNvSpPr/>
            <p:nvPr/>
          </p:nvSpPr>
          <p:spPr>
            <a:xfrm>
              <a:off x="864000" y="11959200"/>
              <a:ext cx="4075196" cy="2830250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7C3AED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" name="Shape 154"/>
            <p:cNvSpPr/>
            <p:nvPr/>
          </p:nvSpPr>
          <p:spPr>
            <a:xfrm>
              <a:off x="2901600" y="14835600"/>
              <a:ext cx="0" cy="612000"/>
            </a:xfrm>
            <a:prstGeom prst="line">
              <a:avLst/>
            </a:prstGeom>
            <a:noFill/>
            <a:ln w="33020">
              <a:solidFill>
                <a:srgbClr val="7C3AED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" name="Text 156"/>
            <p:cNvSpPr/>
            <p:nvPr/>
          </p:nvSpPr>
          <p:spPr>
            <a:xfrm>
              <a:off x="811800" y="17426706"/>
              <a:ext cx="4255200" cy="29520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11182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backbone–CH₂–CH₃</a:t>
              </a:r>
              <a:endParaRPr lang="en-US" sz="2400" b="1" dirty="0"/>
            </a:p>
          </p:txBody>
        </p:sp>
        <p:pic>
          <p:nvPicPr>
            <p:cNvPr id="267" name="Picture 266" descr="D_i_whole_3200x2400_600dpi.pn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029600" y="11970000"/>
              <a:ext cx="3744000" cy="2808000"/>
            </a:xfrm>
            <a:prstGeom prst="rect">
              <a:avLst/>
            </a:prstGeom>
            <a:ln w="15875">
              <a:solidFill>
                <a:srgbClr val="7C3AED"/>
              </a:solidFill>
            </a:ln>
          </p:spPr>
        </p:pic>
        <p:pic>
          <p:nvPicPr>
            <p:cNvPr id="269" name="Picture 268" descr="D_i_inset_TIGHT_3200x2400_600dpi.png"/>
            <p:cNvPicPr>
              <a:picLocks noChangeAspect="1"/>
            </p:cNvPicPr>
            <p:nvPr/>
          </p:nvPicPr>
          <p:blipFill rotWithShape="1">
            <a:blip r:embed="rId16"/>
            <a:srcRect t="13931" b="17048"/>
            <a:stretch/>
          </p:blipFill>
          <p:spPr>
            <a:xfrm>
              <a:off x="1533600" y="15875138"/>
              <a:ext cx="2736000" cy="1416303"/>
            </a:xfrm>
            <a:prstGeom prst="rect">
              <a:avLst/>
            </a:prstGeom>
            <a:ln w="15875">
              <a:solidFill>
                <a:srgbClr val="7C3AED"/>
              </a:solidFill>
            </a:ln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DFC8728-723E-411C-82C5-10E0EEB0E7FE}"/>
              </a:ext>
            </a:extLst>
          </p:cNvPr>
          <p:cNvGrpSpPr/>
          <p:nvPr/>
        </p:nvGrpSpPr>
        <p:grpSpPr>
          <a:xfrm>
            <a:off x="5367600" y="12466499"/>
            <a:ext cx="4421050" cy="6206357"/>
            <a:chOff x="5354061" y="11553914"/>
            <a:chExt cx="4421050" cy="6206357"/>
          </a:xfrm>
        </p:grpSpPr>
        <p:sp>
          <p:nvSpPr>
            <p:cNvPr id="160" name="Text 158"/>
            <p:cNvSpPr/>
            <p:nvPr/>
          </p:nvSpPr>
          <p:spPr>
            <a:xfrm>
              <a:off x="5354061" y="11553914"/>
              <a:ext cx="4399200" cy="424514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2100" b="1" dirty="0">
                  <a:solidFill>
                    <a:srgbClr val="7C3AE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ii · endpoint</a:t>
              </a:r>
              <a:endParaRPr lang="en-US" sz="1700" dirty="0"/>
            </a:p>
          </p:txBody>
        </p:sp>
        <p:sp>
          <p:nvSpPr>
            <p:cNvPr id="161" name="Shape 159"/>
            <p:cNvSpPr/>
            <p:nvPr/>
          </p:nvSpPr>
          <p:spPr>
            <a:xfrm>
              <a:off x="5572800" y="11959200"/>
              <a:ext cx="4075190" cy="2832034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7C3AED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" name="Shape 163"/>
            <p:cNvSpPr/>
            <p:nvPr/>
          </p:nvSpPr>
          <p:spPr>
            <a:xfrm>
              <a:off x="7610400" y="14835600"/>
              <a:ext cx="0" cy="612000"/>
            </a:xfrm>
            <a:prstGeom prst="line">
              <a:avLst/>
            </a:prstGeom>
            <a:noFill/>
            <a:ln w="33020">
              <a:solidFill>
                <a:srgbClr val="7C3AED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" name="Text 165"/>
            <p:cNvSpPr/>
            <p:nvPr/>
          </p:nvSpPr>
          <p:spPr>
            <a:xfrm>
              <a:off x="5493772" y="17400471"/>
              <a:ext cx="4281339" cy="35980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11182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backbone–CH₃</a:t>
              </a:r>
              <a:endParaRPr lang="en-US" sz="2400" b="1" dirty="0"/>
            </a:p>
          </p:txBody>
        </p:sp>
        <p:pic>
          <p:nvPicPr>
            <p:cNvPr id="268" name="Picture 267" descr="D_ii_whole_3200x2400_600dpi.pn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5738400" y="11970000"/>
              <a:ext cx="3744000" cy="2808000"/>
            </a:xfrm>
            <a:prstGeom prst="rect">
              <a:avLst/>
            </a:prstGeom>
            <a:ln w="15875">
              <a:solidFill>
                <a:srgbClr val="7C3AED"/>
              </a:solidFill>
            </a:ln>
          </p:spPr>
        </p:pic>
        <p:pic>
          <p:nvPicPr>
            <p:cNvPr id="270" name="Picture 269" descr="D_ii_inset_TIGHT_3200x2400_600dpi.png"/>
            <p:cNvPicPr>
              <a:picLocks noChangeAspect="1"/>
            </p:cNvPicPr>
            <p:nvPr/>
          </p:nvPicPr>
          <p:blipFill rotWithShape="1">
            <a:blip r:embed="rId18"/>
            <a:srcRect t="17718" b="13182"/>
            <a:stretch/>
          </p:blipFill>
          <p:spPr>
            <a:xfrm>
              <a:off x="6242400" y="15879600"/>
              <a:ext cx="2736000" cy="1417906"/>
            </a:xfrm>
            <a:prstGeom prst="rect">
              <a:avLst/>
            </a:prstGeom>
            <a:ln w="15875">
              <a:solidFill>
                <a:srgbClr val="7C3AED"/>
              </a:solidFill>
            </a:ln>
          </p:spPr>
        </p:pic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A38DBDE1-A88F-4460-909C-DACFF43301E2}"/>
              </a:ext>
            </a:extLst>
          </p:cNvPr>
          <p:cNvGrpSpPr/>
          <p:nvPr/>
        </p:nvGrpSpPr>
        <p:grpSpPr>
          <a:xfrm>
            <a:off x="10633789" y="12574800"/>
            <a:ext cx="4464449" cy="6195600"/>
            <a:chOff x="10609200" y="11653200"/>
            <a:chExt cx="4464449" cy="6195600"/>
          </a:xfrm>
        </p:grpSpPr>
        <p:sp>
          <p:nvSpPr>
            <p:cNvPr id="193" name="Text 191"/>
            <p:cNvSpPr/>
            <p:nvPr/>
          </p:nvSpPr>
          <p:spPr>
            <a:xfrm>
              <a:off x="10609200" y="11653200"/>
              <a:ext cx="4312800" cy="30010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2100" b="1" dirty="0">
                  <a:solidFill>
                    <a:srgbClr val="E11D4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 · endpoint</a:t>
              </a:r>
              <a:endParaRPr lang="en-US" sz="1700" dirty="0"/>
            </a:p>
          </p:txBody>
        </p:sp>
        <p:sp>
          <p:nvSpPr>
            <p:cNvPr id="194" name="Shape 192"/>
            <p:cNvSpPr/>
            <p:nvPr/>
          </p:nvSpPr>
          <p:spPr>
            <a:xfrm>
              <a:off x="10728000" y="11959200"/>
              <a:ext cx="4075200" cy="2818800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11D48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" name="Shape 196"/>
            <p:cNvSpPr/>
            <p:nvPr/>
          </p:nvSpPr>
          <p:spPr>
            <a:xfrm>
              <a:off x="12765600" y="14835600"/>
              <a:ext cx="0" cy="612000"/>
            </a:xfrm>
            <a:prstGeom prst="line">
              <a:avLst/>
            </a:prstGeom>
            <a:noFill/>
            <a:ln w="33020">
              <a:solidFill>
                <a:srgbClr val="E11D48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" name="Text 198"/>
            <p:cNvSpPr/>
            <p:nvPr/>
          </p:nvSpPr>
          <p:spPr>
            <a:xfrm>
              <a:off x="10649249" y="17265600"/>
              <a:ext cx="4424400" cy="58320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11182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C₂₈H₁₂N₂O₈</a:t>
              </a:r>
              <a:endParaRPr lang="en-US" sz="2000" b="1" dirty="0"/>
            </a:p>
          </p:txBody>
        </p:sp>
        <p:pic>
          <p:nvPicPr>
            <p:cNvPr id="271" name="Picture 270" descr="E_i_whole_3200x2400_600dpi.png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0893600" y="11970000"/>
              <a:ext cx="3744000" cy="2797200"/>
            </a:xfrm>
            <a:prstGeom prst="rect">
              <a:avLst/>
            </a:prstGeom>
            <a:ln w="15875">
              <a:solidFill>
                <a:srgbClr val="E11D48"/>
              </a:solidFill>
            </a:ln>
          </p:spPr>
        </p:pic>
        <p:pic>
          <p:nvPicPr>
            <p:cNvPr id="273" name="Picture 272" descr="E_i_inset_TIGHT_3200x2400_600dpi.png"/>
            <p:cNvPicPr>
              <a:picLocks noChangeAspect="1"/>
            </p:cNvPicPr>
            <p:nvPr/>
          </p:nvPicPr>
          <p:blipFill rotWithShape="1">
            <a:blip r:embed="rId20"/>
            <a:srcRect t="10876" b="16992"/>
            <a:stretch/>
          </p:blipFill>
          <p:spPr>
            <a:xfrm>
              <a:off x="11488211" y="15832452"/>
              <a:ext cx="2736000" cy="1480121"/>
            </a:xfrm>
            <a:prstGeom prst="rect">
              <a:avLst/>
            </a:prstGeom>
            <a:ln w="15875">
              <a:solidFill>
                <a:srgbClr val="E11D48"/>
              </a:solidFill>
            </a:ln>
          </p:spPr>
        </p:pic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678952E6-3E6B-419D-B2DF-A0387F0B0D09}"/>
              </a:ext>
            </a:extLst>
          </p:cNvPr>
          <p:cNvGrpSpPr/>
          <p:nvPr/>
        </p:nvGrpSpPr>
        <p:grpSpPr>
          <a:xfrm>
            <a:off x="15325200" y="12558100"/>
            <a:ext cx="4329000" cy="6127781"/>
            <a:chOff x="15307200" y="11653200"/>
            <a:chExt cx="4329000" cy="6127781"/>
          </a:xfrm>
        </p:grpSpPr>
        <p:sp>
          <p:nvSpPr>
            <p:cNvPr id="202" name="Text 200"/>
            <p:cNvSpPr/>
            <p:nvPr/>
          </p:nvSpPr>
          <p:spPr>
            <a:xfrm>
              <a:off x="15307200" y="11653200"/>
              <a:ext cx="4323600" cy="31680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2100" b="1" dirty="0">
                  <a:solidFill>
                    <a:srgbClr val="E11D4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ii · endpoint</a:t>
              </a:r>
              <a:endParaRPr lang="en-US" sz="1700" dirty="0"/>
            </a:p>
          </p:txBody>
        </p:sp>
        <p:sp>
          <p:nvSpPr>
            <p:cNvPr id="203" name="Shape 201"/>
            <p:cNvSpPr/>
            <p:nvPr/>
          </p:nvSpPr>
          <p:spPr>
            <a:xfrm>
              <a:off x="15427239" y="11959200"/>
              <a:ext cx="4111870" cy="2818800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11D48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" name="Shape 205"/>
            <p:cNvSpPr/>
            <p:nvPr/>
          </p:nvSpPr>
          <p:spPr>
            <a:xfrm>
              <a:off x="17474400" y="14835600"/>
              <a:ext cx="0" cy="612000"/>
            </a:xfrm>
            <a:prstGeom prst="line">
              <a:avLst/>
            </a:prstGeom>
            <a:noFill/>
            <a:ln w="33020">
              <a:solidFill>
                <a:srgbClr val="E11D48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" name="Text 207"/>
            <p:cNvSpPr/>
            <p:nvPr/>
          </p:nvSpPr>
          <p:spPr>
            <a:xfrm>
              <a:off x="15312600" y="17395131"/>
              <a:ext cx="4323600" cy="38585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11182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C₂₆H₁₂N₂O₄</a:t>
              </a:r>
              <a:endParaRPr lang="en-US" sz="2000" b="1" dirty="0"/>
            </a:p>
          </p:txBody>
        </p:sp>
        <p:pic>
          <p:nvPicPr>
            <p:cNvPr id="272" name="Picture 271" descr="E_ii_whole_3200x2400_600dpi.png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5602400" y="11970000"/>
              <a:ext cx="3744000" cy="2797200"/>
            </a:xfrm>
            <a:prstGeom prst="rect">
              <a:avLst/>
            </a:prstGeom>
            <a:ln w="15875">
              <a:solidFill>
                <a:srgbClr val="E11D48"/>
              </a:solidFill>
            </a:ln>
          </p:spPr>
        </p:pic>
        <p:pic>
          <p:nvPicPr>
            <p:cNvPr id="274" name="Picture 273" descr="E_ii_inset_TIGHT_3200x2400_600dpi.png"/>
            <p:cNvPicPr>
              <a:picLocks noChangeAspect="1"/>
            </p:cNvPicPr>
            <p:nvPr/>
          </p:nvPicPr>
          <p:blipFill rotWithShape="1">
            <a:blip r:embed="rId22"/>
            <a:srcRect t="11691" b="16179"/>
            <a:stretch/>
          </p:blipFill>
          <p:spPr>
            <a:xfrm>
              <a:off x="16117200" y="15802179"/>
              <a:ext cx="2736000" cy="1480121"/>
            </a:xfrm>
            <a:prstGeom prst="rect">
              <a:avLst/>
            </a:prstGeom>
            <a:ln w="15875">
              <a:solidFill>
                <a:srgbClr val="E11D48"/>
              </a:solidFill>
            </a:ln>
          </p:spPr>
        </p:pic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C2452D62-A289-4869-934F-8B776DA72741}"/>
              </a:ext>
            </a:extLst>
          </p:cNvPr>
          <p:cNvGrpSpPr/>
          <p:nvPr/>
        </p:nvGrpSpPr>
        <p:grpSpPr>
          <a:xfrm>
            <a:off x="20471323" y="12495599"/>
            <a:ext cx="4349031" cy="6254671"/>
            <a:chOff x="20436969" y="11602799"/>
            <a:chExt cx="4349031" cy="6254671"/>
          </a:xfrm>
        </p:grpSpPr>
        <p:sp>
          <p:nvSpPr>
            <p:cNvPr id="235" name="Text 233"/>
            <p:cNvSpPr/>
            <p:nvPr/>
          </p:nvSpPr>
          <p:spPr>
            <a:xfrm>
              <a:off x="20436969" y="11602799"/>
              <a:ext cx="4294954" cy="345601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2100" b="1" dirty="0">
                  <a:solidFill>
                    <a:srgbClr val="16A34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 · endpoint</a:t>
              </a:r>
              <a:endParaRPr lang="en-US" sz="2100" dirty="0"/>
            </a:p>
          </p:txBody>
        </p:sp>
        <p:sp>
          <p:nvSpPr>
            <p:cNvPr id="236" name="Shape 234"/>
            <p:cNvSpPr/>
            <p:nvPr/>
          </p:nvSpPr>
          <p:spPr>
            <a:xfrm>
              <a:off x="20592000" y="11959200"/>
              <a:ext cx="4075200" cy="2818800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16A34A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" name="Shape 238"/>
            <p:cNvSpPr/>
            <p:nvPr/>
          </p:nvSpPr>
          <p:spPr>
            <a:xfrm>
              <a:off x="22629600" y="14835600"/>
              <a:ext cx="0" cy="612000"/>
            </a:xfrm>
            <a:prstGeom prst="line">
              <a:avLst/>
            </a:prstGeom>
            <a:noFill/>
            <a:ln w="33020">
              <a:solidFill>
                <a:srgbClr val="16A34A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" name="Text 240"/>
            <p:cNvSpPr/>
            <p:nvPr/>
          </p:nvSpPr>
          <p:spPr>
            <a:xfrm>
              <a:off x="20530800" y="17308399"/>
              <a:ext cx="4255200" cy="549071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11182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C₉N₃ local crop</a:t>
              </a:r>
              <a:endParaRPr lang="en-US" sz="2000" b="1" dirty="0"/>
            </a:p>
          </p:txBody>
        </p:sp>
        <p:pic>
          <p:nvPicPr>
            <p:cNvPr id="275" name="Picture 274" descr="F_i_whole_3200x2400_600dpi.png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20757600" y="11970000"/>
              <a:ext cx="3744000" cy="2797200"/>
            </a:xfrm>
            <a:prstGeom prst="rect">
              <a:avLst/>
            </a:prstGeom>
            <a:ln w="15875">
              <a:solidFill>
                <a:srgbClr val="16A34A"/>
              </a:solidFill>
            </a:ln>
          </p:spPr>
        </p:pic>
        <p:pic>
          <p:nvPicPr>
            <p:cNvPr id="277" name="Picture 276" descr="F_i_inset_TIGHT_3200x2400_600dpi.png"/>
            <p:cNvPicPr>
              <a:picLocks noChangeAspect="1"/>
            </p:cNvPicPr>
            <p:nvPr/>
          </p:nvPicPr>
          <p:blipFill rotWithShape="1">
            <a:blip r:embed="rId24"/>
            <a:srcRect t="14211" b="13763"/>
            <a:stretch/>
          </p:blipFill>
          <p:spPr>
            <a:xfrm>
              <a:off x="21303134" y="15814279"/>
              <a:ext cx="2736000" cy="1477991"/>
            </a:xfrm>
            <a:prstGeom prst="rect">
              <a:avLst/>
            </a:prstGeom>
            <a:ln w="15875">
              <a:solidFill>
                <a:srgbClr val="16A34A"/>
              </a:solidFill>
            </a:ln>
          </p:spPr>
        </p:pic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2639F839-C643-43D7-B74F-F1F17E1DD525}"/>
              </a:ext>
            </a:extLst>
          </p:cNvPr>
          <p:cNvGrpSpPr/>
          <p:nvPr/>
        </p:nvGrpSpPr>
        <p:grpSpPr>
          <a:xfrm>
            <a:off x="25138800" y="12487330"/>
            <a:ext cx="4418923" cy="6325705"/>
            <a:chOff x="25138800" y="11607630"/>
            <a:chExt cx="4418923" cy="6325705"/>
          </a:xfrm>
        </p:grpSpPr>
        <p:sp>
          <p:nvSpPr>
            <p:cNvPr id="244" name="Text 242"/>
            <p:cNvSpPr/>
            <p:nvPr/>
          </p:nvSpPr>
          <p:spPr>
            <a:xfrm>
              <a:off x="25138800" y="11607630"/>
              <a:ext cx="4418923" cy="31680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2100" b="1" dirty="0">
                  <a:solidFill>
                    <a:srgbClr val="16A34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ii · endpoint</a:t>
              </a:r>
              <a:endParaRPr lang="en-US" sz="2100" dirty="0"/>
            </a:p>
          </p:txBody>
        </p:sp>
        <p:sp>
          <p:nvSpPr>
            <p:cNvPr id="245" name="Shape 243"/>
            <p:cNvSpPr/>
            <p:nvPr/>
          </p:nvSpPr>
          <p:spPr>
            <a:xfrm>
              <a:off x="25300800" y="11959200"/>
              <a:ext cx="4075195" cy="2818800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16A34A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" name="Shape 247"/>
            <p:cNvSpPr/>
            <p:nvPr/>
          </p:nvSpPr>
          <p:spPr>
            <a:xfrm>
              <a:off x="27338400" y="14835600"/>
              <a:ext cx="0" cy="612000"/>
            </a:xfrm>
            <a:prstGeom prst="line">
              <a:avLst/>
            </a:prstGeom>
            <a:noFill/>
            <a:ln w="33020">
              <a:solidFill>
                <a:srgbClr val="16A34A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" name="Text 249"/>
            <p:cNvSpPr/>
            <p:nvPr/>
          </p:nvSpPr>
          <p:spPr>
            <a:xfrm>
              <a:off x="25275600" y="17285505"/>
              <a:ext cx="4276800" cy="64783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11182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C₁₁N local crop</a:t>
              </a:r>
              <a:endParaRPr lang="en-US" sz="2000" b="1" dirty="0"/>
            </a:p>
          </p:txBody>
        </p:sp>
        <p:pic>
          <p:nvPicPr>
            <p:cNvPr id="276" name="Picture 275" descr="F_ii_whole_3200x2400_600dpi.png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25466400" y="11970000"/>
              <a:ext cx="3744000" cy="2797200"/>
            </a:xfrm>
            <a:prstGeom prst="rect">
              <a:avLst/>
            </a:prstGeom>
            <a:ln w="15875">
              <a:solidFill>
                <a:srgbClr val="16A34A"/>
              </a:solidFill>
            </a:ln>
          </p:spPr>
        </p:pic>
        <p:pic>
          <p:nvPicPr>
            <p:cNvPr id="278" name="Picture 277" descr="F_ii_inset_TIGHT_3200x2400_600dpi.png"/>
            <p:cNvPicPr>
              <a:picLocks noChangeAspect="1"/>
            </p:cNvPicPr>
            <p:nvPr/>
          </p:nvPicPr>
          <p:blipFill rotWithShape="1">
            <a:blip r:embed="rId26"/>
            <a:srcRect t="14849" b="13124"/>
            <a:stretch/>
          </p:blipFill>
          <p:spPr>
            <a:xfrm>
              <a:off x="25988400" y="15830860"/>
              <a:ext cx="2736000" cy="1477991"/>
            </a:xfrm>
            <a:prstGeom prst="rect">
              <a:avLst/>
            </a:prstGeom>
            <a:ln w="15875">
              <a:solidFill>
                <a:srgbClr val="16A34A"/>
              </a:solidFill>
            </a:ln>
          </p:spPr>
        </p:pic>
      </p:grpSp>
      <p:sp>
        <p:nvSpPr>
          <p:cNvPr id="157" name="Oval 156">
            <a:extLst>
              <a:ext uri="{FF2B5EF4-FFF2-40B4-BE49-F238E27FC236}">
                <a16:creationId xmlns:a16="http://schemas.microsoft.com/office/drawing/2014/main" id="{A8CAD2BE-CCAA-40DA-9480-F6C7F53A22E5}"/>
              </a:ext>
            </a:extLst>
          </p:cNvPr>
          <p:cNvSpPr/>
          <p:nvPr/>
        </p:nvSpPr>
        <p:spPr>
          <a:xfrm>
            <a:off x="1558830" y="3974753"/>
            <a:ext cx="1302340" cy="868700"/>
          </a:xfrm>
          <a:prstGeom prst="ellipse">
            <a:avLst/>
          </a:prstGeom>
          <a:noFill/>
          <a:ln w="38100">
            <a:solidFill>
              <a:srgbClr val="2166F3">
                <a:alpha val="80000"/>
              </a:srgb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6" name="Oval 285">
            <a:extLst>
              <a:ext uri="{FF2B5EF4-FFF2-40B4-BE49-F238E27FC236}">
                <a16:creationId xmlns:a16="http://schemas.microsoft.com/office/drawing/2014/main" id="{9B9CE102-CE6F-4DBF-A02F-3BE09F0AC575}"/>
              </a:ext>
            </a:extLst>
          </p:cNvPr>
          <p:cNvSpPr/>
          <p:nvPr/>
        </p:nvSpPr>
        <p:spPr>
          <a:xfrm>
            <a:off x="6348511" y="3967937"/>
            <a:ext cx="1302340" cy="868700"/>
          </a:xfrm>
          <a:prstGeom prst="ellipse">
            <a:avLst/>
          </a:prstGeom>
          <a:noFill/>
          <a:ln w="38100">
            <a:solidFill>
              <a:srgbClr val="2166F3">
                <a:alpha val="80000"/>
              </a:srgb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87" name="Oval 286">
            <a:extLst>
              <a:ext uri="{FF2B5EF4-FFF2-40B4-BE49-F238E27FC236}">
                <a16:creationId xmlns:a16="http://schemas.microsoft.com/office/drawing/2014/main" id="{218FD53B-0504-459E-B713-4E19FAE04219}"/>
              </a:ext>
            </a:extLst>
          </p:cNvPr>
          <p:cNvSpPr/>
          <p:nvPr/>
        </p:nvSpPr>
        <p:spPr>
          <a:xfrm>
            <a:off x="12519879" y="4168800"/>
            <a:ext cx="520241" cy="541301"/>
          </a:xfrm>
          <a:prstGeom prst="ellipse">
            <a:avLst/>
          </a:prstGeom>
          <a:noFill/>
          <a:ln w="38100">
            <a:solidFill>
              <a:srgbClr val="008C8C">
                <a:alpha val="80000"/>
              </a:srgb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8" name="Oval 287">
            <a:extLst>
              <a:ext uri="{FF2B5EF4-FFF2-40B4-BE49-F238E27FC236}">
                <a16:creationId xmlns:a16="http://schemas.microsoft.com/office/drawing/2014/main" id="{6656839B-7ED2-4ABF-B172-D3F61718BC97}"/>
              </a:ext>
            </a:extLst>
          </p:cNvPr>
          <p:cNvSpPr/>
          <p:nvPr/>
        </p:nvSpPr>
        <p:spPr>
          <a:xfrm>
            <a:off x="17204679" y="4151541"/>
            <a:ext cx="520241" cy="541301"/>
          </a:xfrm>
          <a:prstGeom prst="ellipse">
            <a:avLst/>
          </a:prstGeom>
          <a:noFill/>
          <a:ln w="38100">
            <a:solidFill>
              <a:srgbClr val="008C8C">
                <a:alpha val="80000"/>
              </a:srgb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9" name="Oval 288">
            <a:extLst>
              <a:ext uri="{FF2B5EF4-FFF2-40B4-BE49-F238E27FC236}">
                <a16:creationId xmlns:a16="http://schemas.microsoft.com/office/drawing/2014/main" id="{297E9B45-B227-4EE7-8163-4A78174CED60}"/>
              </a:ext>
            </a:extLst>
          </p:cNvPr>
          <p:cNvSpPr/>
          <p:nvPr/>
        </p:nvSpPr>
        <p:spPr>
          <a:xfrm>
            <a:off x="22369477" y="4169272"/>
            <a:ext cx="520241" cy="541301"/>
          </a:xfrm>
          <a:prstGeom prst="ellipse">
            <a:avLst/>
          </a:prstGeom>
          <a:noFill/>
          <a:ln w="38100">
            <a:solidFill>
              <a:srgbClr val="F97316">
                <a:alpha val="80000"/>
              </a:srgb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0" name="Oval 289">
            <a:extLst>
              <a:ext uri="{FF2B5EF4-FFF2-40B4-BE49-F238E27FC236}">
                <a16:creationId xmlns:a16="http://schemas.microsoft.com/office/drawing/2014/main" id="{D3635CA8-14BF-4E44-B7C7-39C0B90D96B3}"/>
              </a:ext>
            </a:extLst>
          </p:cNvPr>
          <p:cNvSpPr/>
          <p:nvPr/>
        </p:nvSpPr>
        <p:spPr>
          <a:xfrm>
            <a:off x="27072559" y="4159342"/>
            <a:ext cx="520241" cy="541301"/>
          </a:xfrm>
          <a:prstGeom prst="ellipse">
            <a:avLst/>
          </a:prstGeom>
          <a:noFill/>
          <a:ln w="38100">
            <a:solidFill>
              <a:srgbClr val="F97316">
                <a:alpha val="80000"/>
              </a:srgb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1" name="Oval 290">
            <a:extLst>
              <a:ext uri="{FF2B5EF4-FFF2-40B4-BE49-F238E27FC236}">
                <a16:creationId xmlns:a16="http://schemas.microsoft.com/office/drawing/2014/main" id="{4A9B222C-468F-445C-B6F9-E404B4D13692}"/>
              </a:ext>
            </a:extLst>
          </p:cNvPr>
          <p:cNvSpPr/>
          <p:nvPr/>
        </p:nvSpPr>
        <p:spPr>
          <a:xfrm>
            <a:off x="2379215" y="13884412"/>
            <a:ext cx="481955" cy="448648"/>
          </a:xfrm>
          <a:prstGeom prst="ellipse">
            <a:avLst/>
          </a:prstGeom>
          <a:noFill/>
          <a:ln w="38100">
            <a:solidFill>
              <a:srgbClr val="7C3AED">
                <a:alpha val="80000"/>
              </a:srgb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2" name="Oval 291">
            <a:extLst>
              <a:ext uri="{FF2B5EF4-FFF2-40B4-BE49-F238E27FC236}">
                <a16:creationId xmlns:a16="http://schemas.microsoft.com/office/drawing/2014/main" id="{82FA10EB-2C59-477D-9A95-DDC78EDEFCB4}"/>
              </a:ext>
            </a:extLst>
          </p:cNvPr>
          <p:cNvSpPr/>
          <p:nvPr/>
        </p:nvSpPr>
        <p:spPr>
          <a:xfrm>
            <a:off x="7147126" y="13855097"/>
            <a:ext cx="401214" cy="387619"/>
          </a:xfrm>
          <a:prstGeom prst="ellipse">
            <a:avLst/>
          </a:prstGeom>
          <a:noFill/>
          <a:ln w="38100">
            <a:solidFill>
              <a:srgbClr val="7C3AED">
                <a:alpha val="80000"/>
              </a:srgb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3" name="Oval 292">
            <a:extLst>
              <a:ext uri="{FF2B5EF4-FFF2-40B4-BE49-F238E27FC236}">
                <a16:creationId xmlns:a16="http://schemas.microsoft.com/office/drawing/2014/main" id="{80F5C6F1-AF78-4AC8-90AF-7A9BDC79A3A7}"/>
              </a:ext>
            </a:extLst>
          </p:cNvPr>
          <p:cNvSpPr/>
          <p:nvPr/>
        </p:nvSpPr>
        <p:spPr>
          <a:xfrm>
            <a:off x="11282180" y="13884411"/>
            <a:ext cx="1461600" cy="879239"/>
          </a:xfrm>
          <a:prstGeom prst="ellipse">
            <a:avLst/>
          </a:prstGeom>
          <a:noFill/>
          <a:ln w="38100">
            <a:solidFill>
              <a:srgbClr val="E11D48">
                <a:alpha val="80000"/>
              </a:srgb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4" name="Oval 293">
            <a:extLst>
              <a:ext uri="{FF2B5EF4-FFF2-40B4-BE49-F238E27FC236}">
                <a16:creationId xmlns:a16="http://schemas.microsoft.com/office/drawing/2014/main" id="{1E8E7716-47C9-4113-A218-01FFDB63991B}"/>
              </a:ext>
            </a:extLst>
          </p:cNvPr>
          <p:cNvSpPr/>
          <p:nvPr/>
        </p:nvSpPr>
        <p:spPr>
          <a:xfrm>
            <a:off x="21497859" y="14664780"/>
            <a:ext cx="384679" cy="306001"/>
          </a:xfrm>
          <a:prstGeom prst="ellipse">
            <a:avLst/>
          </a:prstGeom>
          <a:noFill/>
          <a:ln w="38100">
            <a:solidFill>
              <a:srgbClr val="16A34A">
                <a:alpha val="80000"/>
              </a:srgb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5" name="Oval 294">
            <a:extLst>
              <a:ext uri="{FF2B5EF4-FFF2-40B4-BE49-F238E27FC236}">
                <a16:creationId xmlns:a16="http://schemas.microsoft.com/office/drawing/2014/main" id="{41F911B6-5A5E-4B3A-896E-61435E0A0322}"/>
              </a:ext>
            </a:extLst>
          </p:cNvPr>
          <p:cNvSpPr/>
          <p:nvPr/>
        </p:nvSpPr>
        <p:spPr>
          <a:xfrm>
            <a:off x="16715509" y="13912942"/>
            <a:ext cx="1835727" cy="958368"/>
          </a:xfrm>
          <a:prstGeom prst="ellipse">
            <a:avLst/>
          </a:prstGeom>
          <a:noFill/>
          <a:ln w="38100">
            <a:solidFill>
              <a:srgbClr val="E11D48">
                <a:alpha val="80000"/>
              </a:srgb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6" name="Oval 295">
            <a:extLst>
              <a:ext uri="{FF2B5EF4-FFF2-40B4-BE49-F238E27FC236}">
                <a16:creationId xmlns:a16="http://schemas.microsoft.com/office/drawing/2014/main" id="{FFCCC754-1921-436E-BF88-2CE0131A6B14}"/>
              </a:ext>
            </a:extLst>
          </p:cNvPr>
          <p:cNvSpPr/>
          <p:nvPr/>
        </p:nvSpPr>
        <p:spPr>
          <a:xfrm>
            <a:off x="27734775" y="14175583"/>
            <a:ext cx="384679" cy="306001"/>
          </a:xfrm>
          <a:prstGeom prst="ellipse">
            <a:avLst/>
          </a:prstGeom>
          <a:noFill/>
          <a:ln w="38100">
            <a:solidFill>
              <a:srgbClr val="16A34A">
                <a:alpha val="80000"/>
              </a:srgb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391</Words>
  <Application>Microsoft Office PowerPoint</Application>
  <PresentationFormat>Custom</PresentationFormat>
  <Paragraphs>133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Project7B Structural Panel Version D Readable</dc:title>
  <dc:subject>Readable large-font structural panel template</dc:subject>
  <dc:creator>OpenAI</dc:creator>
  <cp:lastModifiedBy>Shayan Abaei</cp:lastModifiedBy>
  <cp:revision>41</cp:revision>
  <dcterms:created xsi:type="dcterms:W3CDTF">2026-09-01T14:59:30Z</dcterms:created>
  <dcterms:modified xsi:type="dcterms:W3CDTF">2026-09-02T11:04:45Z</dcterms:modified>
</cp:coreProperties>
</file>